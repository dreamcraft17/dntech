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d4e67da69e4282" /><Relationship Type="http://schemas.openxmlformats.org/officeDocument/2006/relationships/extended-properties" Target="/docProps/app.xml" Id="R092a8ca1f5494d11" /><Relationship Type="http://schemas.openxmlformats.org/officeDocument/2006/relationships/officeDocument" Target="/ppt/presentation.xml" Id="Rc1e7bd62a8ee450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d12fe57739346de"/>
  </p:sldMasterIdLst>
  <p:notesMasterIdLst>
    <p:notesMasterId xmlns:r="http://schemas.openxmlformats.org/officeDocument/2006/relationships" r:id="R03c145ade4734a71"/>
  </p:notesMasterIdLst>
  <p:sldIdLst>
    <p:sldId xmlns:r="http://schemas.openxmlformats.org/officeDocument/2006/relationships" id="256" r:id="R54b39851780d4c3b"/>
    <p:sldId xmlns:r="http://schemas.openxmlformats.org/officeDocument/2006/relationships" id="257" r:id="R03ffc44872584b76"/>
    <p:sldId xmlns:r="http://schemas.openxmlformats.org/officeDocument/2006/relationships" id="258" r:id="Re864906cd0ab4328"/>
    <p:sldId xmlns:r="http://schemas.openxmlformats.org/officeDocument/2006/relationships" id="259" r:id="Rd19fb58100d64765"/>
    <p:sldId xmlns:r="http://schemas.openxmlformats.org/officeDocument/2006/relationships" id="260" r:id="R787830738bda4859"/>
    <p:sldId xmlns:r="http://schemas.openxmlformats.org/officeDocument/2006/relationships" id="261" r:id="R84c4801d05854a60"/>
    <p:sldId xmlns:r="http://schemas.openxmlformats.org/officeDocument/2006/relationships" id="262" r:id="R393a783633f84cda"/>
    <p:sldId xmlns:r="http://schemas.openxmlformats.org/officeDocument/2006/relationships" id="263" r:id="R5d327209c8a64c4c"/>
    <p:sldId xmlns:r="http://schemas.openxmlformats.org/officeDocument/2006/relationships" id="264" r:id="Ra326fa6bc6e34128"/>
  </p:sldIdLst>
  <p:sldSz cx="12192000" cy="6858000"/>
  <p:notesSz cx="6858000" cy="9144000"/>
  <p:embeddedFontLst>
    <p:embeddedFont>
      <p:font typeface="Lora Medium"/>
      <p:regular xmlns:r="http://schemas.openxmlformats.org/officeDocument/2006/relationships" r:id="R8bf4b25a766f43d4"/>
      <p:italic xmlns:r="http://schemas.openxmlformats.org/officeDocument/2006/relationships" r:id="R904f44cf5cb94a52"/>
    </p:embeddedFont>
    <p:embeddedFont>
      <p:font typeface="Lora SemiBold"/>
      <p:regular xmlns:r="http://schemas.openxmlformats.org/officeDocument/2006/relationships" r:id="R479034a1bed44245"/>
      <p:bold xmlns:r="http://schemas.openxmlformats.org/officeDocument/2006/relationships" r:id="Rdaec72803b1c44c1"/>
      <p:italic xmlns:r="http://schemas.openxmlformats.org/officeDocument/2006/relationships" r:id="R84a745aaa58a4c7e"/>
      <p:boldItalic xmlns:r="http://schemas.openxmlformats.org/officeDocument/2006/relationships" r:id="Rce4d27b1d7504c4a"/>
    </p:embeddedFont>
    <p:embeddedFont>
      <p:font typeface="OpenAI Sans"/>
      <p:regular xmlns:r="http://schemas.openxmlformats.org/officeDocument/2006/relationships" r:id="R829b5dc3732d4f32"/>
      <p:bold xmlns:r="http://schemas.openxmlformats.org/officeDocument/2006/relationships" r:id="R8fd6956bd3bd4e5b"/>
      <p:italic xmlns:r="http://schemas.openxmlformats.org/officeDocument/2006/relationships" r:id="Rcfdd682f8e54426e"/>
      <p:boldItalic xmlns:r="http://schemas.openxmlformats.org/officeDocument/2006/relationships" r:id="R626fb574616a49da"/>
    </p:embeddedFont>
    <p:embeddedFont>
      <p:font typeface="Roboto"/>
      <p:regular xmlns:r="http://schemas.openxmlformats.org/officeDocument/2006/relationships" r:id="R2d7b774d79c243e3"/>
      <p:bold xmlns:r="http://schemas.openxmlformats.org/officeDocument/2006/relationships" r:id="R3386a53188064339"/>
      <p:italic xmlns:r="http://schemas.openxmlformats.org/officeDocument/2006/relationships" r:id="R1de976867fc841df"/>
      <p:boldItalic xmlns:r="http://schemas.openxmlformats.org/officeDocument/2006/relationships" r:id="R549555529dfb40bf"/>
    </p:embeddedFont>
    <p:embeddedFont>
      <p:font typeface="Roboto Medium"/>
      <p:regular xmlns:r="http://schemas.openxmlformats.org/officeDocument/2006/relationships" r:id="Rd2aa2434693c4c4c"/>
      <p:italic xmlns:r="http://schemas.openxmlformats.org/officeDocument/2006/relationships" r:id="R4a2f808200ba4999"/>
    </p:embeddedFont>
    <p:embeddedFont>
      <p:font typeface="Roboto SemiBold"/>
      <p:regular xmlns:r="http://schemas.openxmlformats.org/officeDocument/2006/relationships" r:id="Rd024000b57d6470b"/>
      <p:bold xmlns:r="http://schemas.openxmlformats.org/officeDocument/2006/relationships" r:id="R0febac063d5d4f20"/>
      <p:italic xmlns:r="http://schemas.openxmlformats.org/officeDocument/2006/relationships" r:id="R3559055e8ca54094"/>
      <p:boldItalic xmlns:r="http://schemas.openxmlformats.org/officeDocument/2006/relationships" r:id="R792d7af0f8b14ccf"/>
    </p:embeddedFont>
    <p:embeddedFont>
      <p:font typeface="Roboto Serif 14pt"/>
      <p:regular xmlns:r="http://schemas.openxmlformats.org/officeDocument/2006/relationships" r:id="R4a91187e357d48c5"/>
      <p:bold xmlns:r="http://schemas.openxmlformats.org/officeDocument/2006/relationships" r:id="Rfc6c9c9148984146"/>
      <p:italic xmlns:r="http://schemas.openxmlformats.org/officeDocument/2006/relationships" r:id="Rae8863ae5d91428f"/>
      <p:boldItalic xmlns:r="http://schemas.openxmlformats.org/officeDocument/2006/relationships" r:id="R1246f70690954656"/>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5e619f1f51545b4" /><Relationship Type="http://schemas.openxmlformats.org/officeDocument/2006/relationships/slideMaster" Target="/ppt/slideMasters/slideMaster1.xml" Id="R5d12fe57739346de" /><Relationship Type="http://schemas.openxmlformats.org/officeDocument/2006/relationships/notesMaster" Target="/ppt/notesMasters/notesMaster1.xml" Id="R03c145ade4734a71" /><Relationship Type="http://schemas.openxmlformats.org/officeDocument/2006/relationships/presProps" Target="/ppt/presProps.xml" Id="Rc12739a1b73e4846" /><Relationship Type="http://schemas.openxmlformats.org/officeDocument/2006/relationships/viewProps" Target="/ppt/viewProps.xml" Id="Re36072b3889d4c05" /><Relationship Type="http://schemas.openxmlformats.org/officeDocument/2006/relationships/tableStyles" Target="/ppt/tableStyles.xml" Id="R156f74166bf44565" /><Relationship Type="http://schemas.openxmlformats.org/officeDocument/2006/relationships/font" Target="/ppt/fonts/font.dat" Id="R8bf4b25a766f43d4" /><Relationship Type="http://schemas.openxmlformats.org/officeDocument/2006/relationships/font" Target="/ppt/fonts/font2.dat" Id="R904f44cf5cb94a52" /><Relationship Type="http://schemas.openxmlformats.org/officeDocument/2006/relationships/font" Target="/ppt/fonts/font3.dat" Id="R479034a1bed44245" /><Relationship Type="http://schemas.openxmlformats.org/officeDocument/2006/relationships/font" Target="/ppt/fonts/font4.dat" Id="Rdaec72803b1c44c1" /><Relationship Type="http://schemas.openxmlformats.org/officeDocument/2006/relationships/font" Target="/ppt/fonts/font5.dat" Id="R84a745aaa58a4c7e" /><Relationship Type="http://schemas.openxmlformats.org/officeDocument/2006/relationships/font" Target="/ppt/fonts/font6.dat" Id="Rce4d27b1d7504c4a" /><Relationship Type="http://schemas.openxmlformats.org/officeDocument/2006/relationships/font" Target="/ppt/fonts/font7.dat" Id="R829b5dc3732d4f32" /><Relationship Type="http://schemas.openxmlformats.org/officeDocument/2006/relationships/font" Target="/ppt/fonts/font8.dat" Id="R8fd6956bd3bd4e5b" /><Relationship Type="http://schemas.openxmlformats.org/officeDocument/2006/relationships/font" Target="/ppt/fonts/font9.dat" Id="Rcfdd682f8e54426e" /><Relationship Type="http://schemas.openxmlformats.org/officeDocument/2006/relationships/font" Target="/ppt/fonts/font10.dat" Id="R626fb574616a49da" /><Relationship Type="http://schemas.openxmlformats.org/officeDocument/2006/relationships/font" Target="/ppt/fonts/font11.dat" Id="R2d7b774d79c243e3" /><Relationship Type="http://schemas.openxmlformats.org/officeDocument/2006/relationships/font" Target="/ppt/fonts/font12.dat" Id="R3386a53188064339" /><Relationship Type="http://schemas.openxmlformats.org/officeDocument/2006/relationships/font" Target="/ppt/fonts/font13.dat" Id="R1de976867fc841df" /><Relationship Type="http://schemas.openxmlformats.org/officeDocument/2006/relationships/font" Target="/ppt/fonts/font14.dat" Id="R549555529dfb40bf" /><Relationship Type="http://schemas.openxmlformats.org/officeDocument/2006/relationships/font" Target="/ppt/fonts/font15.dat" Id="Rd2aa2434693c4c4c" /><Relationship Type="http://schemas.openxmlformats.org/officeDocument/2006/relationships/font" Target="/ppt/fonts/font16.dat" Id="R4a2f808200ba4999" /><Relationship Type="http://schemas.openxmlformats.org/officeDocument/2006/relationships/font" Target="/ppt/fonts/font17.dat" Id="Rd024000b57d6470b" /><Relationship Type="http://schemas.openxmlformats.org/officeDocument/2006/relationships/font" Target="/ppt/fonts/font18.dat" Id="R0febac063d5d4f20" /><Relationship Type="http://schemas.openxmlformats.org/officeDocument/2006/relationships/font" Target="/ppt/fonts/font19.dat" Id="R3559055e8ca54094" /><Relationship Type="http://schemas.openxmlformats.org/officeDocument/2006/relationships/font" Target="/ppt/fonts/font20.dat" Id="R792d7af0f8b14ccf" /><Relationship Type="http://schemas.openxmlformats.org/officeDocument/2006/relationships/font" Target="/ppt/fonts/font21.dat" Id="R4a91187e357d48c5" /><Relationship Type="http://schemas.openxmlformats.org/officeDocument/2006/relationships/font" Target="/ppt/fonts/font22.dat" Id="Rfc6c9c9148984146" /><Relationship Type="http://schemas.openxmlformats.org/officeDocument/2006/relationships/font" Target="/ppt/fonts/font23.dat" Id="Rae8863ae5d91428f" /><Relationship Type="http://schemas.openxmlformats.org/officeDocument/2006/relationships/font" Target="/ppt/fonts/font24.dat" Id="R1246f70690954656" /><Relationship Type="http://schemas.openxmlformats.org/officeDocument/2006/relationships/slide" Target="/ppt/slides/slide1.xml" Id="R54b39851780d4c3b" /><Relationship Type="http://schemas.openxmlformats.org/officeDocument/2006/relationships/slide" Target="/ppt/slides/slide2.xml" Id="R03ffc44872584b76" /><Relationship Type="http://schemas.openxmlformats.org/officeDocument/2006/relationships/slide" Target="/ppt/slides/slide3.xml" Id="Re864906cd0ab4328" /><Relationship Type="http://schemas.openxmlformats.org/officeDocument/2006/relationships/slide" Target="/ppt/slides/slide4.xml" Id="Rd19fb58100d64765" /><Relationship Type="http://schemas.openxmlformats.org/officeDocument/2006/relationships/slide" Target="/ppt/slides/slide5.xml" Id="R787830738bda4859" /><Relationship Type="http://schemas.openxmlformats.org/officeDocument/2006/relationships/slide" Target="/ppt/slides/slide6.xml" Id="R84c4801d05854a60" /><Relationship Type="http://schemas.openxmlformats.org/officeDocument/2006/relationships/slide" Target="/ppt/slides/slide7.xml" Id="R393a783633f84cda" /><Relationship Type="http://schemas.openxmlformats.org/officeDocument/2006/relationships/slide" Target="/ppt/slides/slide8.xml" Id="R5d327209c8a64c4c" /><Relationship Type="http://schemas.openxmlformats.org/officeDocument/2006/relationships/slide" Target="/ppt/slides/slide9.xml" Id="Ra326fa6bc6e341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0e6c698f9c4a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efb2ddbe994a2d" /><Relationship Type="http://schemas.openxmlformats.org/officeDocument/2006/relationships/notesMaster" Target="/ppt/notesMasters/notesMaster1.xml" Id="R85f386ddc1ac4d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18ab595f984ef4" /><Relationship Type="http://schemas.openxmlformats.org/officeDocument/2006/relationships/notesMaster" Target="/ppt/notesMasters/notesMaster1.xml" Id="R362b40eb786947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550de21bc74ff8" /><Relationship Type="http://schemas.openxmlformats.org/officeDocument/2006/relationships/notesMaster" Target="/ppt/notesMasters/notesMaster1.xml" Id="R442672fed38f47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5c04a04daa4bda" /><Relationship Type="http://schemas.openxmlformats.org/officeDocument/2006/relationships/notesMaster" Target="/ppt/notesMasters/notesMaster1.xml" Id="R9b7959002afd4a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62ea386deb4b7c" /><Relationship Type="http://schemas.openxmlformats.org/officeDocument/2006/relationships/notesMaster" Target="/ppt/notesMasters/notesMaster1.xml" Id="R3acf4d4364524f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534b4489f648b6" /><Relationship Type="http://schemas.openxmlformats.org/officeDocument/2006/relationships/notesMaster" Target="/ppt/notesMasters/notesMaster1.xml" Id="R536c90e1511349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448ec6c03c4f2b" /><Relationship Type="http://schemas.openxmlformats.org/officeDocument/2006/relationships/notesMaster" Target="/ppt/notesMasters/notesMaster1.xml" Id="R83147f82af034b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c3cffa1d874ea0" /><Relationship Type="http://schemas.openxmlformats.org/officeDocument/2006/relationships/notesMaster" Target="/ppt/notesMasters/notesMaster1.xml" Id="R60c8800ae8d342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3ae9c0a2e04b76" /><Relationship Type="http://schemas.openxmlformats.org/officeDocument/2006/relationships/notesMaster" Target="/ppt/notesMasters/notesMaster1.xml" Id="Ree6d1d2cadf54a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537ccd7fc24a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a0ce7c7cbe45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95bf9bad024b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c368154cbd49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cc214b26eb4f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5f17f844d50492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f595697c9f44c0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290c524cfc64057"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latin typeface="Lora SemiBold"/>
                <a:ea typeface="Lora SemiBold"/>
                <a:cs typeface="Lora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699" y="6279294"/>
            <a:ext cx="8129411"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294"/>
            <a:ext cx="87051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294"/>
            <a:ext cx="74930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699" y="6279294"/>
            <a:ext cx="846664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699" y="6279294"/>
            <a:ext cx="736176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294"/>
            <a:ext cx="75875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ea58a5dd8b4ee6" /><Relationship Type="http://schemas.openxmlformats.org/officeDocument/2006/relationships/slideLayout" Target="/ppt/slideLayouts/slideLayout1.xml" Id="Rf8365eb10f994101" /><Relationship Type="http://schemas.openxmlformats.org/officeDocument/2006/relationships/slideLayout" Target="/ppt/slideLayouts/slideLayout2.xml" Id="R2b047b65171d47e5" /><Relationship Type="http://schemas.openxmlformats.org/officeDocument/2006/relationships/slideLayout" Target="/ppt/slideLayouts/slideLayout3.xml" Id="Ra8db6cd359704222" /><Relationship Type="http://schemas.openxmlformats.org/officeDocument/2006/relationships/slideLayout" Target="/ppt/slideLayouts/slideLayout4.xml" Id="Raa13334ef831451d" /><Relationship Type="http://schemas.openxmlformats.org/officeDocument/2006/relationships/slideLayout" Target="/ppt/slideLayouts/slideLayout5.xml" Id="R9a6e661eebfc473a" /><Relationship Type="http://schemas.openxmlformats.org/officeDocument/2006/relationships/slideLayout" Target="/ppt/slideLayouts/slideLayout6.xml" Id="Rd510b127574848aa" /><Relationship Type="http://schemas.openxmlformats.org/officeDocument/2006/relationships/slideLayout" Target="/ppt/slideLayouts/slideLayout7.xml" Id="Rcf5c4eab75a44936" /><Relationship Type="http://schemas.openxmlformats.org/officeDocument/2006/relationships/slideLayout" Target="/ppt/slideLayouts/slideLayout8.xml" Id="Ra67a55aad28e4a41"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294"/>
            <a:ext cx="75311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365eb10f994101"/>
    <p:sldLayoutId xmlns:r="http://schemas.openxmlformats.org/officeDocument/2006/relationships" id="2147483650" r:id="R2b047b65171d47e5"/>
    <p:sldLayoutId xmlns:r="http://schemas.openxmlformats.org/officeDocument/2006/relationships" id="2147483651" r:id="Ra8db6cd359704222"/>
    <p:sldLayoutId xmlns:r="http://schemas.openxmlformats.org/officeDocument/2006/relationships" id="2147483652" r:id="Raa13334ef831451d"/>
    <p:sldLayoutId xmlns:r="http://schemas.openxmlformats.org/officeDocument/2006/relationships" id="2147483653" r:id="R9a6e661eebfc473a"/>
    <p:sldLayoutId xmlns:r="http://schemas.openxmlformats.org/officeDocument/2006/relationships" id="2147483654" r:id="Rd510b127574848aa"/>
    <p:sldLayoutId xmlns:r="http://schemas.openxmlformats.org/officeDocument/2006/relationships" id="2147483655" r:id="Rcf5c4eab75a44936"/>
    <p:sldLayoutId xmlns:r="http://schemas.openxmlformats.org/officeDocument/2006/relationships" id="2147483656" r:id="Ra67a55aad28e4a41"/>
  </p:sldLayoutIdLst>
  <p:hf hdr="0" dt="0"/>
  <p:txStyles>
    <p:titleStyle>
      <a:lvl1pPr xmlns:a="http://schemas.openxmlformats.org/drawingml/2006/main"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520"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e9bc02182b4dbe" /><Relationship Type="http://schemas.openxmlformats.org/officeDocument/2006/relationships/notesSlide" Target="/ppt/notesSlides/notesSlide1.xml" Id="Rfa7f9225ddb44e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f8e500ab5644a97" /><Relationship Type="http://schemas.openxmlformats.org/officeDocument/2006/relationships/notesSlide" Target="/ppt/notesSlides/notesSlide2.xml" Id="Re94b117235384c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0acac1ff57045dc" /><Relationship Type="http://schemas.openxmlformats.org/officeDocument/2006/relationships/notesSlide" Target="/ppt/notesSlides/notesSlide3.xml" Id="R5666d1cdcdfd49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112dc5415e7427d" /><Relationship Type="http://schemas.openxmlformats.org/officeDocument/2006/relationships/notesSlide" Target="/ppt/notesSlides/notesSlide4.xml" Id="Re097ee5cbd7145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30718a3720e4515" /><Relationship Type="http://schemas.openxmlformats.org/officeDocument/2006/relationships/notesSlide" Target="/ppt/notesSlides/notesSlide5.xml" Id="R2abe475bfae04e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c3e96c14772496d" /><Relationship Type="http://schemas.openxmlformats.org/officeDocument/2006/relationships/notesSlide" Target="/ppt/notesSlides/notesSlide6.xml" Id="R290d815c53774c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4c32c3f589b4c87" /><Relationship Type="http://schemas.openxmlformats.org/officeDocument/2006/relationships/notesSlide" Target="/ppt/notesSlides/notesSlide7.xml" Id="Rea2fa12778164d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57572edafaa24190" /><Relationship Type="http://schemas.openxmlformats.org/officeDocument/2006/relationships/notesSlide" Target="/ppt/notesSlides/notesSlide8.xml" Id="R0b0acc8ac32041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87b26d5f1b4bb9" /><Relationship Type="http://schemas.openxmlformats.org/officeDocument/2006/relationships/notesSlide" Target="/ppt/notesSlides/notesSlide9.xml" Id="R7e45b9093acc47d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706809B0-D483-45C1-B580-B57BB5CC520A}"/>
              </a:ext>
            </a:extLst>
          </p:cNvPr>
          <p:cNvSpPr>
            <a:spLocks xmlns:a="http://schemas.openxmlformats.org/drawingml/2006/main" noGrp="1"/>
          </p:cNvSpPr>
          <p:nvPr>
            <p:ph type="ctrTitle" idx="0"/>
          </p:nvPr>
        </p:nvSpPr>
        <p:spPr>
          <a:xfrm xmlns:a="http://schemas.openxmlformats.org/drawingml/2006/main">
            <a:off x="569969" y="1444887"/>
            <a:ext cx="9448800" cy="1726468"/>
          </a:xfrm>
        </p:spPr>
        <p:txBody>
          <a:bodyPr xmlns:a="http://schemas.openxmlformats.org/drawingml/2006/main" anchor="t">
            <a:noAutofit/>
          </a:bodyPr>
          <a:lstStyle xmlns:a="http://schemas.openxmlformats.org/drawingml/2006/main"/>
          <a:p xmlns:a="http://schemas.openxmlformats.org/drawingml/2006/main">
            <a:r>
              <a:rPr sz="5500">
                <a:solidFill>
                  <a:schemeClr val="accent1"/>
                </a:solidFill>
                <a:latin typeface="Lora Medium"/>
                <a:ea typeface="Lora Medium"/>
                <a:cs typeface="Lora Medium"/>
              </a:rPr>
              <a:t>DN Tech Content &amp; Positioning Review</a:t>
            </a:r>
          </a:p>
        </p:txBody>
      </p:sp>
      <p:sp>
        <p:nvSpPr>
          <p:cNvPr id="5" name="Subtitle 4">
            <a:extLst xmlns:a="http://schemas.openxmlformats.org/drawingml/2006/main">
              <a:ext uri="{FF2B5EF4-FFF2-40B4-BE49-F238E27FC236}">
                <a16:creationId xmlns:a16="http://schemas.microsoft.com/office/drawing/2014/main" id="{7DD11E6E-01C0-D6E4-28D7-D7F6B94AF61C}"/>
              </a:ext>
            </a:extLst>
          </p:cNvPr>
          <p:cNvSpPr>
            <a:spLocks xmlns:a="http://schemas.openxmlformats.org/drawingml/2006/main" noGrp="1"/>
          </p:cNvSpPr>
          <p:nvPr>
            <p:ph type="subTitle" idx="1"/>
          </p:nvPr>
        </p:nvSpPr>
        <p:spPr>
          <a:xfrm xmlns:a="http://schemas.openxmlformats.org/drawingml/2006/main">
            <a:off x="603019" y="5077241"/>
            <a:ext cx="6304556" cy="1076208"/>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p xmlns:a="http://schemas.openxmlformats.org/drawingml/2006/main">
            <a:pPr>
              <a:lnSpc>
                <a:spcPct val="120000"/>
              </a:lnSpc>
              <a:buNone/>
            </a:pPr>
            <a:r>
              <a:rPr sz="1400">
                <a:solidFill>
                  <a:schemeClr val="accent2">
                    <a:lumMod val="50000"/>
                  </a:schemeClr>
                </a:solidFill>
              </a:rPr>
              <a:t>A focused review of the words, audiences, content pillars, and 90-day experiments that can make DN Tech easier to find, understand, and choose.</a:t>
            </a:r>
          </a:p>
        </p:txBody>
      </p:sp>
      <p:sp>
        <p:nvSpPr>
          <p:cNvPr id="6" name="Subtitle 4">
            <a:extLst xmlns:a="http://schemas.openxmlformats.org/drawingml/2006/main">
              <a:ext uri="{FF2B5EF4-FFF2-40B4-BE49-F238E27FC236}">
                <a16:creationId xmlns:a16="http://schemas.microsoft.com/office/drawing/2014/main" id="{C66AB198-0518-67DE-AB81-D65264FDA20F}"/>
              </a:ext>
            </a:extLst>
          </p:cNvPr>
          <p:cNvSpPr>
            <a:spLocks xmlns:a="http://schemas.openxmlformats.org/drawingml/2006/main" noGrp="1"/>
          </p:cNvSpPr>
          <p:nvPr/>
        </p:nvSpPr>
        <p:spPr>
          <a:xfrm xmlns:a="http://schemas.openxmlformats.org/drawingml/2006/main">
            <a:off x="603018" y="4606175"/>
            <a:ext cx="6304556" cy="320279"/>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600" b="1">
                <a:solidFill>
                  <a:schemeClr val="accent1"/>
                </a:solidFill>
                <a:latin typeface="Roboto SemiBold"/>
                <a:ea typeface="Roboto SemiBold"/>
                <a:cs typeface="Roboto SemiBold"/>
              </a:rPr>
              <a:t>SEP 2026</a:t>
            </a:r>
          </a:p>
        </p:txBody>
      </p:sp>
      <p:sp>
        <p:nvSpPr>
          <p:cNvPr id="10" name="Subtitle 4">
            <a:extLst xmlns:a="http://schemas.openxmlformats.org/drawingml/2006/main">
              <a:ext uri="{FF2B5EF4-FFF2-40B4-BE49-F238E27FC236}">
                <a16:creationId xmlns:a16="http://schemas.microsoft.com/office/drawing/2014/main" id="{CC2E0538-5645-7BC8-CF3A-FDF31FD97820}"/>
              </a:ext>
            </a:extLst>
          </p:cNvPr>
          <p:cNvSpPr>
            <a:spLocks xmlns:a="http://schemas.openxmlformats.org/drawingml/2006/main" noGrp="1"/>
          </p:cNvSpPr>
          <p:nvPr/>
        </p:nvSpPr>
        <p:spPr>
          <a:xfrm xmlns:a="http://schemas.openxmlformats.org/drawingml/2006/main">
            <a:off x="603018" y="555606"/>
            <a:ext cx="3578411" cy="34517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solidFill>
                  <a:schemeClr val="accent2">
                    <a:lumMod val="90000"/>
                  </a:schemeClr>
                </a:solidFill>
                <a:latin typeface="Roboto Medium"/>
                <a:ea typeface="Roboto Medium"/>
                <a:cs typeface="Roboto Medium"/>
              </a:rPr>
              <a:t>DN Tech</a:t>
            </a:r>
          </a:p>
        </p:txBody>
      </p:sp>
      <p:sp>
        <p:nvSpPr>
          <p:cNvPr id="7" name="Straight Connector 6">
            <a:extLst xmlns:a="http://schemas.openxmlformats.org/drawingml/2006/main">
              <a:ext uri="{FF2B5EF4-FFF2-40B4-BE49-F238E27FC236}">
                <a16:creationId xmlns:a16="http://schemas.microsoft.com/office/drawing/2014/main" id="{F4304817-25C7-4CFD-BAC1-E6BCFFF6ABF3}"/>
              </a:ext>
            </a:extLst>
          </p:cNvPr>
          <p:cNvSpPr>
            <a:spLocks xmlns:a="http://schemas.openxmlformats.org/drawingml/2006/main" noGrp="1"/>
          </p:cNvSpPr>
          <p:nvPr/>
        </p:nvSpPr>
        <p:spPr>
          <a:xfrm xmlns:a="http://schemas.openxmlformats.org/drawingml/2006/main">
            <a:off x="-183260" y="3934067"/>
            <a:ext cx="12558520" cy="0"/>
          </a:xfrm>
          <a:prstGeom xmlns:a="http://schemas.openxmlformats.org/drawingml/2006/main" prst="line">
            <a:avLst/>
          </a:prstGeom>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168508855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333293E5-3F4C-4A77-B25F-E3D44505EFEF}"/>
              </a:ext>
            </a:extLst>
          </p:cNvPr>
          <p:cNvSpPr>
            <a:spLocks xmlns:a="http://schemas.openxmlformats.org/drawingml/2006/main" noGrp="1"/>
          </p:cNvSpPr>
          <p:nvPr>
            <p:ph idx="1"/>
          </p:nvPr>
        </p:nvSpPr>
        <p:spPr>
          <a:xfrm xmlns:a="http://schemas.openxmlformats.org/drawingml/2006/main">
            <a:off x="393699" y="2812968"/>
            <a:ext cx="5537200" cy="186590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DN Tech already has credible ingredients: custom software, transparent delivery, and first-party products. The issue is message breadth. When every audience is addressed at once, no buyer immediately feels “this is for my problem.”</a:t>
            </a:r>
          </a:p>
        </p:txBody>
      </p:sp>
      <p:sp>
        <p:nvSpPr>
          <p:cNvPr id="532" name="Google Shape;532;p58">
            <a:extLst xmlns:a="http://schemas.openxmlformats.org/drawingml/2006/main">
              <a:ext uri="{FF2B5EF4-FFF2-40B4-BE49-F238E27FC236}">
                <a16:creationId xmlns:a16="http://schemas.microsoft.com/office/drawing/2014/main" id="{9BA70590-499F-4B35-9F49-D48B8CA17C3E}"/>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3</a:t>
            </a:fld>
          </a:p>
        </p:txBody>
      </p:sp>
      <p:sp>
        <p:nvSpPr>
          <p:cNvPr id="5" name="Google Shape;534;p58">
            <a:extLst xmlns:a="http://schemas.openxmlformats.org/drawingml/2006/main">
              <a:ext uri="{FF2B5EF4-FFF2-40B4-BE49-F238E27FC236}">
                <a16:creationId xmlns:a16="http://schemas.microsoft.com/office/drawing/2014/main" id="{A3548D03-1D0F-655D-DD48-D4BF5C80F44D}"/>
              </a:ext>
            </a:extLst>
          </p:cNvPr>
          <p:cNvSpPr>
            <a:spLocks xmlns:a="http://schemas.openxmlformats.org/drawingml/2006/main" noGrp="1"/>
          </p:cNvSpPr>
          <p:nvPr/>
        </p:nvSpPr>
        <p:spPr>
          <a:xfrm xmlns:a="http://schemas.openxmlformats.org/drawingml/2006/main">
            <a:off x="393700" y="2111025"/>
            <a:ext cx="1844403"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REVIEW</a:t>
            </a:r>
          </a:p>
        </p:txBody>
      </p:sp>
      <p:sp>
        <p:nvSpPr>
          <p:cNvPr id="6" name="Google Shape;534;p58">
            <a:extLst xmlns:a="http://schemas.openxmlformats.org/drawingml/2006/main">
              <a:ext uri="{FF2B5EF4-FFF2-40B4-BE49-F238E27FC236}">
                <a16:creationId xmlns:a16="http://schemas.microsoft.com/office/drawing/2014/main" id="{4051D0BE-5D22-BCB4-EADF-44F16643D9F5}"/>
              </a:ext>
            </a:extLst>
          </p:cNvPr>
          <p:cNvSpPr>
            <a:spLocks xmlns:a="http://schemas.openxmlformats.org/drawingml/2006/main" noGrp="1"/>
          </p:cNvSpPr>
          <p:nvPr/>
        </p:nvSpPr>
        <p:spPr>
          <a:xfrm xmlns:a="http://schemas.openxmlformats.org/drawingml/2006/main">
            <a:off x="6260109" y="2826992"/>
            <a:ext cx="5537200" cy="100108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The next content system should lead with concrete buying jobs: ship an MVP, connect fragmented systems, or control multi-branch operations.</a:t>
            </a:r>
          </a:p>
        </p:txBody>
      </p:sp>
      <p:sp>
        <p:nvSpPr>
          <p:cNvPr id="7" name="Google Shape;534;p58">
            <a:extLst xmlns:a="http://schemas.openxmlformats.org/drawingml/2006/main">
              <a:ext uri="{FF2B5EF4-FFF2-40B4-BE49-F238E27FC236}">
                <a16:creationId xmlns:a16="http://schemas.microsoft.com/office/drawing/2014/main" id="{EE26938C-7FB7-798D-7C48-988932737F6D}"/>
              </a:ext>
            </a:extLst>
          </p:cNvPr>
          <p:cNvSpPr>
            <a:spLocks xmlns:a="http://schemas.openxmlformats.org/drawingml/2006/main" noGrp="1"/>
          </p:cNvSpPr>
          <p:nvPr/>
        </p:nvSpPr>
        <p:spPr>
          <a:xfrm xmlns:a="http://schemas.openxmlformats.org/drawingml/2006/main">
            <a:off x="6260109" y="2344035"/>
            <a:ext cx="5537200"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The single most important insight</a:t>
            </a:r>
          </a:p>
        </p:txBody>
      </p:sp>
      <p:sp>
        <p:nvSpPr>
          <p:cNvPr id="10" name="Title 2">
            <a:extLst xmlns:a="http://schemas.openxmlformats.org/drawingml/2006/main">
              <a:ext uri="{FF2B5EF4-FFF2-40B4-BE49-F238E27FC236}">
                <a16:creationId xmlns:a16="http://schemas.microsoft.com/office/drawing/2014/main" id="{944AF173-BF22-B5ED-B88F-9080D8699E64}"/>
              </a:ext>
            </a:extLst>
          </p:cNvPr>
          <p:cNvSpPr>
            <a:spLocks xmlns:a="http://schemas.openxmlformats.org/drawingml/2006/main" noGrp="1"/>
          </p:cNvSpPr>
          <p:nvPr>
            <p:ph type="title" idx="0"/>
          </p:nvPr>
        </p:nvSpPr>
        <p:spPr>
          <a:xfrm xmlns:a="http://schemas.openxmlformats.org/drawingml/2006/main">
            <a:off x="393699" y="1046195"/>
            <a:ext cx="11403610" cy="623819"/>
          </a:xfrm>
        </p:spPr>
        <p:txBody>
          <a:bodyPr xmlns:a="http://schemas.openxmlformats.org/drawingml/2006/main">
            <a:normAutofit fontScale="100000"/>
          </a:bodyPr>
          <a:lstStyle xmlns:a="http://schemas.openxmlformats.org/drawingml/2006/main"/>
          <a:p xmlns:a="http://schemas.openxmlformats.org/drawingml/2006/main">
            <a:r>
              <a:t>Sharper positioning before more content</a:t>
            </a:r>
          </a:p>
        </p:txBody>
      </p:sp>
      <p:sp>
        <p:nvSpPr>
          <p:cNvPr id="11" name="Subtitle 4">
            <a:extLst xmlns:a="http://schemas.openxmlformats.org/drawingml/2006/main">
              <a:ext uri="{FF2B5EF4-FFF2-40B4-BE49-F238E27FC236}">
                <a16:creationId xmlns:a16="http://schemas.microsoft.com/office/drawing/2014/main" id="{42E9C51D-AB09-8D83-4157-006D57137348}"/>
              </a:ext>
            </a:extLst>
          </p:cNvPr>
          <p:cNvSpPr>
            <a:spLocks xmlns:a="http://schemas.openxmlformats.org/drawingml/2006/main" noGrp="1"/>
          </p:cNvSpPr>
          <p:nvPr/>
        </p:nvSpPr>
        <p:spPr>
          <a:xfrm xmlns:a="http://schemas.openxmlformats.org/drawingml/2006/main">
            <a:off x="393699" y="392242"/>
            <a:ext cx="3578411" cy="34517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solidFill>
                  <a:schemeClr val="accent1"/>
                </a:solidFill>
                <a:latin typeface="Roboto Medium"/>
                <a:ea typeface="Roboto Medium"/>
                <a:cs typeface="Roboto Medium"/>
              </a:rPr>
              <a:t>Executive summary</a:t>
            </a:r>
          </a:p>
        </p:txBody>
      </p:sp>
      <p:sp>
        <p:nvSpPr>
          <p:cNvPr id="15" name="Straight Connector 14">
            <a:extLst xmlns:a="http://schemas.openxmlformats.org/drawingml/2006/main">
              <a:ext uri="{FF2B5EF4-FFF2-40B4-BE49-F238E27FC236}">
                <a16:creationId xmlns:a16="http://schemas.microsoft.com/office/drawing/2014/main" id="{4BEDDD22-642B-4702-B8F3-17ACE3CB5EB2}"/>
              </a:ext>
            </a:extLst>
          </p:cNvPr>
          <p:cNvSpPr>
            <a:spLocks xmlns:a="http://schemas.openxmlformats.org/drawingml/2006/main" noGrp="1"/>
          </p:cNvSpPr>
          <p:nvPr/>
        </p:nvSpPr>
        <p:spPr>
          <a:xfrm xmlns:a="http://schemas.openxmlformats.org/drawingml/2006/main">
            <a:off x="6261100" y="4039769"/>
            <a:ext cx="5537200" cy="0"/>
          </a:xfrm>
          <a:prstGeom xmlns:a="http://schemas.openxmlformats.org/drawingml/2006/main" prst="line">
            <a:avLst/>
          </a:prstGeom>
          <a:ln xmlns:a="http://schemas.openxmlformats.org/drawingml/2006/main" w="12700">
            <a:solidFill>
              <a:schemeClr val="accent2">
                <a:lumMod val="90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Google Shape;534;p58">
            <a:extLst xmlns:a="http://schemas.openxmlformats.org/drawingml/2006/main">
              <a:ext uri="{FF2B5EF4-FFF2-40B4-BE49-F238E27FC236}">
                <a16:creationId xmlns:a16="http://schemas.microsoft.com/office/drawing/2014/main" id="{108E1773-B682-C5EE-6944-58546A384F37}"/>
              </a:ext>
            </a:extLst>
          </p:cNvPr>
          <p:cNvSpPr>
            <a:spLocks xmlns:a="http://schemas.openxmlformats.org/drawingml/2006/main" noGrp="1"/>
          </p:cNvSpPr>
          <p:nvPr/>
        </p:nvSpPr>
        <p:spPr>
          <a:xfrm xmlns:a="http://schemas.openxmlformats.org/drawingml/2006/main">
            <a:off x="6260109" y="4867987"/>
            <a:ext cx="5537200" cy="120023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Decision needed: choose one primary audience for the next 90 days, then make every topic, landing page, and CTA serve that audience.</a:t>
            </a:r>
          </a:p>
        </p:txBody>
      </p:sp>
      <p:sp>
        <p:nvSpPr>
          <p:cNvPr id="17" name="Google Shape;534;p58">
            <a:extLst xmlns:a="http://schemas.openxmlformats.org/drawingml/2006/main">
              <a:ext uri="{FF2B5EF4-FFF2-40B4-BE49-F238E27FC236}">
                <a16:creationId xmlns:a16="http://schemas.microsoft.com/office/drawing/2014/main" id="{1C1F2FD8-0D30-C7BF-5234-6F0EE46F0DC3}"/>
              </a:ext>
            </a:extLst>
          </p:cNvPr>
          <p:cNvSpPr>
            <a:spLocks xmlns:a="http://schemas.openxmlformats.org/drawingml/2006/main" noGrp="1"/>
          </p:cNvSpPr>
          <p:nvPr/>
        </p:nvSpPr>
        <p:spPr>
          <a:xfrm xmlns:a="http://schemas.openxmlformats.org/drawingml/2006/main">
            <a:off x="6260109" y="4385030"/>
            <a:ext cx="5537200"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The leadership decision required</a:t>
            </a:r>
          </a:p>
        </p:txBody>
      </p:sp>
      <p:sp>
        <p:nvSpPr>
          <p:cNvPr id="3" name="Rounded Rectangle 2">
            <a:extLst xmlns:a="http://schemas.openxmlformats.org/drawingml/2006/main">
              <a:ext uri="{FF2B5EF4-FFF2-40B4-BE49-F238E27FC236}">
                <a16:creationId xmlns:a16="http://schemas.microsoft.com/office/drawing/2014/main" id="{F16B487F-1A7A-C301-4AB8-8DC1C19839AB}"/>
              </a:ext>
            </a:extLst>
          </p:cNvPr>
          <p:cNvSpPr>
            <a:spLocks xmlns:a="http://schemas.openxmlformats.org/drawingml/2006/main" noGrp="1"/>
          </p:cNvSpPr>
          <p:nvPr/>
        </p:nvSpPr>
        <p:spPr>
          <a:xfrm xmlns:a="http://schemas.openxmlformats.org/drawingml/2006/main">
            <a:off x="2349499" y="2093356"/>
            <a:ext cx="2271780" cy="402442"/>
          </a:xfrm>
          <a:prstGeom xmlns:a="http://schemas.openxmlformats.org/drawingml/2006/main" prst="roundRect">
            <a:avLst>
              <a:gd name="adj" fmla="val 15738"/>
            </a:avLst>
          </a:prstGeom>
          <a:solidFill xmlns:a="http://schemas.openxmlformats.org/drawingml/2006/main">
            <a:schemeClr val="accent1">
              <a:alpha val="24648"/>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a:solidFill>
                  <a:schemeClr val="accent1"/>
                </a:solidFill>
              </a:rPr>
              <a:t>SHARPEN</a:t>
            </a:r>
          </a:p>
        </p:txBody>
      </p:sp>
      <p:sp>
        <p:nvSpPr>
          <p:cNvPr id="14" name="TextBox 13">
            <a:extLst xmlns:a="http://schemas.openxmlformats.org/drawingml/2006/main">
              <a:ext uri="{FF2B5EF4-FFF2-40B4-BE49-F238E27FC236}">
                <a16:creationId xmlns:a16="http://schemas.microsoft.com/office/drawing/2014/main" id="{F3AF61EC-DBA0-BFB1-3293-0BF5DB670691}"/>
              </a:ext>
            </a:extLst>
          </p:cNvPr>
          <p:cNvSpPr>
            <a:spLocks xmlns:a="http://schemas.openxmlformats.org/drawingml/2006/main" noGrp="1"/>
          </p:cNvSpPr>
          <p:nvPr/>
        </p:nvSpPr>
        <p:spPr>
          <a:xfrm xmlns:a="http://schemas.openxmlformats.org/drawingml/2006/main">
            <a:off x="393699" y="4756098"/>
            <a:ext cx="5537199" cy="31272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indent="0" algn="l" defTabSz="914400">
              <a:lnSpc>
                <a:spcPct val="114000"/>
              </a:lnSpc>
              <a:spcBef>
                <a:spcPts val="0"/>
              </a:spcBef>
              <a:spcAft>
                <a:spcPts val="800"/>
              </a:spcAft>
              <a:buClrTx/>
              <a:buSzTx/>
              <a:buFontTx/>
              <a:buNone/>
            </a:pPr>
            <a:r>
              <a:rPr sz="1800" b="0" i="0" u="none" cap="none">
                <a:ln>
                  <a:noFill/>
                </a:ln>
                <a:solidFill>
                  <a:srgbClr val="3357B8"/>
                </a:solidFill>
                <a:latin typeface="Helvetica Neue Medium"/>
                <a:ea typeface="Helvetica Neue Medium"/>
                <a:cs typeface="Helvetica Neue Medium"/>
              </a:rPr>
              <a:t>Bottom line</a:t>
            </a:r>
          </a:p>
        </p:txBody>
      </p:sp>
      <p:sp>
        <p:nvSpPr>
          <p:cNvPr id="18" name="Google Shape;534;p58">
            <a:extLst xmlns:a="http://schemas.openxmlformats.org/drawingml/2006/main">
              <a:ext uri="{FF2B5EF4-FFF2-40B4-BE49-F238E27FC236}">
                <a16:creationId xmlns:a16="http://schemas.microsoft.com/office/drawing/2014/main" id="{47E14DB1-10CD-1A00-06DC-F11F90562A04}"/>
              </a:ext>
            </a:extLst>
          </p:cNvPr>
          <p:cNvSpPr>
            <a:spLocks xmlns:a="http://schemas.openxmlformats.org/drawingml/2006/main" noGrp="1"/>
          </p:cNvSpPr>
          <p:nvPr/>
        </p:nvSpPr>
        <p:spPr>
          <a:xfrm xmlns:a="http://schemas.openxmlformats.org/drawingml/2006/main">
            <a:off x="386251" y="5134071"/>
            <a:ext cx="5537200" cy="86032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Lead with problem-led language and product proof—not a generic list of everything DN Tech can build.</a:t>
            </a:r>
          </a:p>
        </p:txBody>
      </p:sp>
    </p:spTree>
    <p:extLst>
      <p:ext uri="{BB962C8B-B14F-4D97-AF65-F5344CB8AC3E}">
        <p14:creationId xmlns:p14="http://schemas.microsoft.com/office/powerpoint/2010/main" val="42100099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AD38C25-48AC-5A29-D53A-82080FAF926E}"/>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4</a:t>
            </a:fld>
          </a:p>
        </p:txBody>
      </p:sp>
      <p:sp>
        <p:nvSpPr>
          <p:cNvPr id="533" name="Google Shape;533;p58">
            <a:extLst xmlns:a="http://schemas.openxmlformats.org/drawingml/2006/main">
              <a:ext uri="{FF2B5EF4-FFF2-40B4-BE49-F238E27FC236}">
                <a16:creationId xmlns:a16="http://schemas.microsoft.com/office/drawing/2014/main" id="{33E8FE18-95DE-C7EA-9E95-10B82189367E}"/>
              </a:ext>
            </a:extLst>
          </p:cNvPr>
          <p:cNvSpPr>
            <a:spLocks xmlns:a="http://schemas.openxmlformats.org/drawingml/2006/main" noGrp="1"/>
          </p:cNvSpPr>
          <p:nvPr>
            <p:ph type="title" idx="0"/>
          </p:nvPr>
        </p:nvSpPr>
        <p:spPr>
          <a:xfrm xmlns:a="http://schemas.openxmlformats.org/drawingml/2006/main">
            <a:off x="393699" y="344009"/>
            <a:ext cx="11404599" cy="5957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a:solidFill>
                  <a:schemeClr val="accent1"/>
                </a:solidFill>
              </a:rPr>
              <a:t>Who should the content attract first?</a:t>
            </a:r>
          </a:p>
        </p:txBody>
      </p:sp>
      <p:sp>
        <p:nvSpPr>
          <p:cNvPr id="7" name="Rounded Rectangle 6">
            <a:extLst xmlns:a="http://schemas.openxmlformats.org/drawingml/2006/main">
              <a:ext uri="{FF2B5EF4-FFF2-40B4-BE49-F238E27FC236}">
                <a16:creationId xmlns:a16="http://schemas.microsoft.com/office/drawing/2014/main" id="{9E3149F3-A7D7-BC8F-C84C-4A4E60EA2799}"/>
              </a:ext>
            </a:extLst>
          </p:cNvPr>
          <p:cNvSpPr>
            <a:spLocks xmlns:a="http://schemas.openxmlformats.org/drawingml/2006/main" noGrp="1"/>
          </p:cNvSpPr>
          <p:nvPr/>
        </p:nvSpPr>
        <p:spPr>
          <a:xfrm xmlns:a="http://schemas.openxmlformats.org/drawingml/2006/main">
            <a:off x="6264412" y="253749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ounded Rectangle 8">
            <a:extLst xmlns:a="http://schemas.openxmlformats.org/drawingml/2006/main">
              <a:ext uri="{FF2B5EF4-FFF2-40B4-BE49-F238E27FC236}">
                <a16:creationId xmlns:a16="http://schemas.microsoft.com/office/drawing/2014/main" id="{5CD1077A-BBDF-3B07-D940-FA5482CB0124}"/>
              </a:ext>
            </a:extLst>
          </p:cNvPr>
          <p:cNvSpPr>
            <a:spLocks xmlns:a="http://schemas.openxmlformats.org/drawingml/2006/main" noGrp="1"/>
          </p:cNvSpPr>
          <p:nvPr/>
        </p:nvSpPr>
        <p:spPr>
          <a:xfrm xmlns:a="http://schemas.openxmlformats.org/drawingml/2006/main">
            <a:off x="409043" y="253749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Content Placeholder 10">
            <a:extLst xmlns:a="http://schemas.openxmlformats.org/drawingml/2006/main">
              <a:ext uri="{FF2B5EF4-FFF2-40B4-BE49-F238E27FC236}">
                <a16:creationId xmlns:a16="http://schemas.microsoft.com/office/drawing/2014/main" id="{B54A841D-1EA0-6181-C778-7C851CA6E64E}"/>
              </a:ext>
            </a:extLst>
          </p:cNvPr>
          <p:cNvSpPr>
            <a:spLocks xmlns:a="http://schemas.openxmlformats.org/drawingml/2006/main" noGrp="1"/>
          </p:cNvSpPr>
          <p:nvPr/>
        </p:nvSpPr>
        <p:spPr>
          <a:xfrm xmlns:a="http://schemas.openxmlformats.org/drawingml/2006/main">
            <a:off x="706278" y="3250891"/>
            <a:ext cx="4986886" cy="59753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indent="0" algn="l" defTabSz="914400">
              <a:lnSpc>
                <a:spcPct val="100000"/>
              </a:lnSpc>
              <a:spcBef>
                <a:spcPts val="1300"/>
              </a:spcBef>
              <a:spcAft>
                <a:spcPts val="1300"/>
              </a:spcAft>
              <a:buClrTx/>
              <a:buSzTx/>
              <a:buFontTx/>
              <a:buNone/>
            </a:pPr>
            <a:r>
              <a:rPr sz="1600" b="0" i="0" u="none" cap="none">
                <a:ln>
                  <a:noFill/>
                </a:ln>
                <a:latin typeface="Helvetica Neue"/>
                <a:ea typeface="Helvetica Neue"/>
                <a:cs typeface="Helvetica Neue"/>
              </a:rPr>
              <a:t>Need MVP or product engineering without losing scope, speed, or technical ownership.</a:t>
            </a:r>
          </a:p>
        </p:txBody>
      </p:sp>
      <p:sp>
        <p:nvSpPr>
          <p:cNvPr id="2" name="Rounded Rectangle 1">
            <a:extLst xmlns:a="http://schemas.openxmlformats.org/drawingml/2006/main">
              <a:ext uri="{FF2B5EF4-FFF2-40B4-BE49-F238E27FC236}">
                <a16:creationId xmlns:a16="http://schemas.microsoft.com/office/drawing/2014/main" id="{B4E203EC-EB81-96EF-66AB-3B6012B4B3EF}"/>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ounded Rectangle 3">
            <a:extLst xmlns:a="http://schemas.openxmlformats.org/drawingml/2006/main">
              <a:ext uri="{FF2B5EF4-FFF2-40B4-BE49-F238E27FC236}">
                <a16:creationId xmlns:a16="http://schemas.microsoft.com/office/drawing/2014/main" id="{2000F722-C0CE-FDAF-EAFE-20BC4A7F4118}"/>
              </a:ext>
            </a:extLst>
          </p:cNvPr>
          <p:cNvSpPr>
            <a:spLocks xmlns:a="http://schemas.openxmlformats.org/drawingml/2006/main" noGrp="1"/>
          </p:cNvSpPr>
          <p:nvPr/>
        </p:nvSpPr>
        <p:spPr>
          <a:xfrm xmlns:a="http://schemas.openxmlformats.org/drawingml/2006/main">
            <a:off x="409043" y="437010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Google Shape;534;p58">
            <a:extLst xmlns:a="http://schemas.openxmlformats.org/drawingml/2006/main">
              <a:ext uri="{FF2B5EF4-FFF2-40B4-BE49-F238E27FC236}">
                <a16:creationId xmlns:a16="http://schemas.microsoft.com/office/drawing/2014/main" id="{F393FB38-1005-6250-1642-93C1A76E0B77}"/>
              </a:ext>
            </a:extLst>
          </p:cNvPr>
          <p:cNvSpPr>
            <a:spLocks xmlns:a="http://schemas.openxmlformats.org/drawingml/2006/main" noGrp="1"/>
          </p:cNvSpPr>
          <p:nvPr/>
        </p:nvSpPr>
        <p:spPr>
          <a:xfrm xmlns:a="http://schemas.openxmlformats.org/drawingml/2006/main">
            <a:off x="393700" y="1649094"/>
            <a:ext cx="11404600" cy="63404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The strongest fit is not “anyone who needs software.” It is a buyer with a visible workflow problem, urgency to improve it, and a reason to value transparent engineering help.</a:t>
            </a:r>
          </a:p>
        </p:txBody>
      </p:sp>
      <p:sp>
        <p:nvSpPr>
          <p:cNvPr id="13" name="Google Shape;534;p58">
            <a:extLst xmlns:a="http://schemas.openxmlformats.org/drawingml/2006/main">
              <a:ext uri="{FF2B5EF4-FFF2-40B4-BE49-F238E27FC236}">
                <a16:creationId xmlns:a16="http://schemas.microsoft.com/office/drawing/2014/main" id="{A0F4C075-109A-7DDE-18C9-18F128552C24}"/>
              </a:ext>
            </a:extLst>
          </p:cNvPr>
          <p:cNvSpPr>
            <a:spLocks xmlns:a="http://schemas.openxmlformats.org/drawingml/2006/main" noGrp="1"/>
          </p:cNvSpPr>
          <p:nvPr/>
        </p:nvSpPr>
        <p:spPr>
          <a:xfrm xmlns:a="http://schemas.openxmlformats.org/drawingml/2006/main">
            <a:off x="393699" y="1146566"/>
            <a:ext cx="11404599"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Working hypothesis — validate with qualified leads and interviews.</a:t>
            </a:r>
          </a:p>
        </p:txBody>
      </p:sp>
      <p:sp>
        <p:nvSpPr>
          <p:cNvPr id="14" name="TextBox 13">
            <a:extLst xmlns:a="http://schemas.openxmlformats.org/drawingml/2006/main">
              <a:ext uri="{FF2B5EF4-FFF2-40B4-BE49-F238E27FC236}">
                <a16:creationId xmlns:a16="http://schemas.microsoft.com/office/drawing/2014/main" id="{49DCE927-F1A4-A9ED-C839-844BB688547F}"/>
              </a:ext>
            </a:extLst>
          </p:cNvPr>
          <p:cNvSpPr>
            <a:spLocks xmlns:a="http://schemas.openxmlformats.org/drawingml/2006/main" noGrp="1"/>
          </p:cNvSpPr>
          <p:nvPr/>
        </p:nvSpPr>
        <p:spPr>
          <a:xfrm xmlns:a="http://schemas.openxmlformats.org/drawingml/2006/main">
            <a:off x="702967" y="279380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indent="0" algn="l" defTabSz="914400">
              <a:lnSpc>
                <a:spcPct val="114000"/>
              </a:lnSpc>
              <a:spcBef>
                <a:spcPts val="0"/>
              </a:spcBef>
              <a:spcAft>
                <a:spcPts val="800"/>
              </a:spcAft>
              <a:buClrTx/>
              <a:buSzTx/>
              <a:buFontTx/>
              <a:buNone/>
            </a:pPr>
            <a:r>
              <a:rPr sz="1800" b="0" i="0" u="none" cap="none">
                <a:ln>
                  <a:noFill/>
                </a:ln>
                <a:solidFill>
                  <a:srgbClr val="3357B8"/>
                </a:solidFill>
                <a:latin typeface="Helvetica Neue Medium"/>
                <a:ea typeface="Helvetica Neue Medium"/>
                <a:cs typeface="Helvetica Neue Medium"/>
              </a:rPr>
              <a:t>Startup &amp; product teams</a:t>
            </a:r>
          </a:p>
        </p:txBody>
      </p:sp>
      <p:sp>
        <p:nvSpPr>
          <p:cNvPr id="16" name="Content Placeholder 10">
            <a:extLst xmlns:a="http://schemas.openxmlformats.org/drawingml/2006/main">
              <a:ext uri="{FF2B5EF4-FFF2-40B4-BE49-F238E27FC236}">
                <a16:creationId xmlns:a16="http://schemas.microsoft.com/office/drawing/2014/main" id="{B71DDDF3-A6F6-A2D9-7F68-A246AE82F73A}"/>
              </a:ext>
            </a:extLst>
          </p:cNvPr>
          <p:cNvSpPr>
            <a:spLocks xmlns:a="http://schemas.openxmlformats.org/drawingml/2006/main" noGrp="1"/>
          </p:cNvSpPr>
          <p:nvPr/>
        </p:nvSpPr>
        <p:spPr>
          <a:xfrm xmlns:a="http://schemas.openxmlformats.org/drawingml/2006/main">
            <a:off x="6558438" y="3250891"/>
            <a:ext cx="4986886" cy="59753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indent="0" algn="l" defTabSz="914400">
              <a:lnSpc>
                <a:spcPct val="100000"/>
              </a:lnSpc>
              <a:spcBef>
                <a:spcPts val="1300"/>
              </a:spcBef>
              <a:spcAft>
                <a:spcPts val="1300"/>
              </a:spcAft>
              <a:buClrTx/>
              <a:buSzTx/>
              <a:buFontTx/>
              <a:buNone/>
            </a:pPr>
            <a:r>
              <a:rPr sz="1600" b="0" i="0" u="none" cap="none">
                <a:ln>
                  <a:noFill/>
                </a:ln>
                <a:latin typeface="Helvetica Neue"/>
                <a:ea typeface="Helvetica Neue"/>
                <a:cs typeface="Helvetica Neue"/>
              </a:rPr>
              <a:t>Need consistent HR and operational workflows across branches, teams, and approvals.</a:t>
            </a:r>
          </a:p>
        </p:txBody>
      </p:sp>
      <p:sp>
        <p:nvSpPr>
          <p:cNvPr id="17" name="TextBox 16">
            <a:extLst xmlns:a="http://schemas.openxmlformats.org/drawingml/2006/main">
              <a:ext uri="{FF2B5EF4-FFF2-40B4-BE49-F238E27FC236}">
                <a16:creationId xmlns:a16="http://schemas.microsoft.com/office/drawing/2014/main" id="{BAD06467-8163-39A0-0B9A-1A98533B6978}"/>
              </a:ext>
            </a:extLst>
          </p:cNvPr>
          <p:cNvSpPr>
            <a:spLocks xmlns:a="http://schemas.openxmlformats.org/drawingml/2006/main" noGrp="1"/>
          </p:cNvSpPr>
          <p:nvPr/>
        </p:nvSpPr>
        <p:spPr>
          <a:xfrm xmlns:a="http://schemas.openxmlformats.org/drawingml/2006/main">
            <a:off x="6555127" y="279380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indent="0" algn="l" defTabSz="914400">
              <a:lnSpc>
                <a:spcPct val="114000"/>
              </a:lnSpc>
              <a:spcBef>
                <a:spcPts val="0"/>
              </a:spcBef>
              <a:spcAft>
                <a:spcPts val="800"/>
              </a:spcAft>
              <a:buClrTx/>
              <a:buSzTx/>
              <a:buFontTx/>
              <a:buNone/>
            </a:pPr>
            <a:r>
              <a:rPr sz="1800" b="0" i="0" u="none" cap="none">
                <a:ln>
                  <a:noFill/>
                </a:ln>
                <a:solidFill>
                  <a:srgbClr val="3357B8"/>
                </a:solidFill>
                <a:latin typeface="Helvetica Neue Medium"/>
                <a:ea typeface="Helvetica Neue Medium"/>
                <a:cs typeface="Helvetica Neue Medium"/>
              </a:rPr>
              <a:t>Multi-branch operators</a:t>
            </a:r>
          </a:p>
        </p:txBody>
      </p:sp>
      <p:sp>
        <p:nvSpPr>
          <p:cNvPr id="18" name="Content Placeholder 10">
            <a:extLst xmlns:a="http://schemas.openxmlformats.org/drawingml/2006/main">
              <a:ext uri="{FF2B5EF4-FFF2-40B4-BE49-F238E27FC236}">
                <a16:creationId xmlns:a16="http://schemas.microsoft.com/office/drawing/2014/main" id="{E61F5831-A6CA-0036-3E5C-283D4EBAFE55}"/>
              </a:ext>
            </a:extLst>
          </p:cNvPr>
          <p:cNvSpPr>
            <a:spLocks xmlns:a="http://schemas.openxmlformats.org/drawingml/2006/main" noGrp="1"/>
          </p:cNvSpPr>
          <p:nvPr/>
        </p:nvSpPr>
        <p:spPr>
          <a:xfrm xmlns:a="http://schemas.openxmlformats.org/drawingml/2006/main">
            <a:off x="706278" y="5094931"/>
            <a:ext cx="4986886" cy="59753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indent="0" algn="l" defTabSz="914400">
              <a:lnSpc>
                <a:spcPct val="100000"/>
              </a:lnSpc>
              <a:spcBef>
                <a:spcPts val="1300"/>
              </a:spcBef>
              <a:spcAft>
                <a:spcPts val="1300"/>
              </a:spcAft>
              <a:buClrTx/>
              <a:buSzTx/>
              <a:buFontTx/>
              <a:buNone/>
            </a:pPr>
            <a:r>
              <a:rPr sz="1600" b="0" i="0" u="none" cap="none">
                <a:ln>
                  <a:noFill/>
                </a:ln>
                <a:latin typeface="Helvetica Neue"/>
                <a:ea typeface="Helvetica Neue"/>
                <a:cs typeface="Helvetica Neue"/>
              </a:rPr>
              <a:t>Need systems that connect, modernize, and produce a clearer operating picture.</a:t>
            </a:r>
          </a:p>
        </p:txBody>
      </p:sp>
      <p:sp>
        <p:nvSpPr>
          <p:cNvPr id="19" name="TextBox 18">
            <a:extLst xmlns:a="http://schemas.openxmlformats.org/drawingml/2006/main">
              <a:ext uri="{FF2B5EF4-FFF2-40B4-BE49-F238E27FC236}">
                <a16:creationId xmlns:a16="http://schemas.microsoft.com/office/drawing/2014/main" id="{1283300B-2E76-54E3-B3E8-C4CE0DA323BE}"/>
              </a:ext>
            </a:extLst>
          </p:cNvPr>
          <p:cNvSpPr>
            <a:spLocks xmlns:a="http://schemas.openxmlformats.org/drawingml/2006/main" noGrp="1"/>
          </p:cNvSpPr>
          <p:nvPr/>
        </p:nvSpPr>
        <p:spPr>
          <a:xfrm xmlns:a="http://schemas.openxmlformats.org/drawingml/2006/main">
            <a:off x="702967" y="463784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indent="0" algn="l" defTabSz="914400">
              <a:lnSpc>
                <a:spcPct val="114000"/>
              </a:lnSpc>
              <a:spcBef>
                <a:spcPts val="0"/>
              </a:spcBef>
              <a:spcAft>
                <a:spcPts val="800"/>
              </a:spcAft>
              <a:buClrTx/>
              <a:buSzTx/>
              <a:buFontTx/>
              <a:buNone/>
            </a:pPr>
            <a:r>
              <a:rPr sz="1800" b="0" i="0" u="none" cap="none">
                <a:ln>
                  <a:noFill/>
                </a:ln>
                <a:solidFill>
                  <a:srgbClr val="3357B8"/>
                </a:solidFill>
                <a:latin typeface="Helvetica Neue Medium"/>
                <a:ea typeface="Helvetica Neue Medium"/>
                <a:cs typeface="Helvetica Neue Medium"/>
              </a:rPr>
              <a:t>Integration buyers</a:t>
            </a:r>
          </a:p>
        </p:txBody>
      </p:sp>
      <p:sp>
        <p:nvSpPr>
          <p:cNvPr id="20" name="Content Placeholder 10">
            <a:extLst xmlns:a="http://schemas.openxmlformats.org/drawingml/2006/main">
              <a:ext uri="{FF2B5EF4-FFF2-40B4-BE49-F238E27FC236}">
                <a16:creationId xmlns:a16="http://schemas.microsoft.com/office/drawing/2014/main" id="{91E87E4E-34C4-73A3-D9B4-5528035E3F32}"/>
              </a:ext>
            </a:extLst>
          </p:cNvPr>
          <p:cNvSpPr>
            <a:spLocks xmlns:a="http://schemas.openxmlformats.org/drawingml/2006/main" noGrp="1"/>
          </p:cNvSpPr>
          <p:nvPr/>
        </p:nvSpPr>
        <p:spPr>
          <a:xfrm xmlns:a="http://schemas.openxmlformats.org/drawingml/2006/main">
            <a:off x="6558438" y="5094931"/>
            <a:ext cx="4986886" cy="59753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indent="0" algn="l" defTabSz="914400">
              <a:lnSpc>
                <a:spcPct val="100000"/>
              </a:lnSpc>
              <a:spcBef>
                <a:spcPts val="1300"/>
              </a:spcBef>
              <a:spcAft>
                <a:spcPts val="1300"/>
              </a:spcAft>
              <a:buClrTx/>
              <a:buSzTx/>
              <a:buFontTx/>
              <a:buNone/>
            </a:pPr>
            <a:r>
              <a:rPr sz="1600" b="0" i="0" u="none" cap="none">
                <a:ln>
                  <a:noFill/>
                </a:ln>
                <a:latin typeface="Helvetica Neue"/>
                <a:ea typeface="Helvetica Neue"/>
                <a:cs typeface="Helvetica Neue"/>
              </a:rPr>
              <a:t>Keep this offer available, but do not let it become the headline or dilute the primary buying jobs.</a:t>
            </a:r>
          </a:p>
        </p:txBody>
      </p:sp>
      <p:sp>
        <p:nvSpPr>
          <p:cNvPr id="21" name="TextBox 20">
            <a:extLst xmlns:a="http://schemas.openxmlformats.org/drawingml/2006/main">
              <a:ext uri="{FF2B5EF4-FFF2-40B4-BE49-F238E27FC236}">
                <a16:creationId xmlns:a16="http://schemas.microsoft.com/office/drawing/2014/main" id="{4BBBD727-79F1-2502-A083-A18F5A754163}"/>
              </a:ext>
            </a:extLst>
          </p:cNvPr>
          <p:cNvSpPr>
            <a:spLocks xmlns:a="http://schemas.openxmlformats.org/drawingml/2006/main" noGrp="1"/>
          </p:cNvSpPr>
          <p:nvPr/>
        </p:nvSpPr>
        <p:spPr>
          <a:xfrm xmlns:a="http://schemas.openxmlformats.org/drawingml/2006/main">
            <a:off x="6555127" y="463784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indent="0" algn="l" defTabSz="914400">
              <a:lnSpc>
                <a:spcPct val="114000"/>
              </a:lnSpc>
              <a:spcBef>
                <a:spcPts val="0"/>
              </a:spcBef>
              <a:spcAft>
                <a:spcPts val="800"/>
              </a:spcAft>
              <a:buClrTx/>
              <a:buSzTx/>
              <a:buFontTx/>
              <a:buNone/>
            </a:pPr>
            <a:r>
              <a:rPr sz="1800" b="0" i="0" u="none" cap="none">
                <a:ln>
                  <a:noFill/>
                </a:ln>
                <a:solidFill>
                  <a:srgbClr val="3357B8"/>
                </a:solidFill>
                <a:latin typeface="Helvetica Neue Medium"/>
                <a:ea typeface="Helvetica Neue Medium"/>
                <a:cs typeface="Helvetica Neue Medium"/>
              </a:rPr>
              <a:t>Secondary: generic build requests</a:t>
            </a:r>
          </a:p>
        </p:txBody>
      </p:sp>
    </p:spTree>
    <p:extLst>
      <p:ext uri="{BB962C8B-B14F-4D97-AF65-F5344CB8AC3E}">
        <p14:creationId xmlns:p14="http://schemas.microsoft.com/office/powerpoint/2010/main" val="217953532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6AD4425-62A5-20FE-DA81-DB0262F8E9D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5</a:t>
            </a:fld>
          </a:p>
        </p:txBody>
      </p:sp>
      <p:sp>
        <p:nvSpPr>
          <p:cNvPr id="533" name="Google Shape;533;p58">
            <a:extLst xmlns:a="http://schemas.openxmlformats.org/drawingml/2006/main">
              <a:ext uri="{FF2B5EF4-FFF2-40B4-BE49-F238E27FC236}">
                <a16:creationId xmlns:a16="http://schemas.microsoft.com/office/drawing/2014/main" id="{CCB3C549-3412-D9EC-FC96-8C0EA25A4312}"/>
              </a:ext>
            </a:extLst>
          </p:cNvPr>
          <p:cNvSpPr>
            <a:spLocks xmlns:a="http://schemas.openxmlformats.org/drawingml/2006/main" noGrp="1"/>
          </p:cNvSpPr>
          <p:nvPr>
            <p:ph type="title" idx="0"/>
          </p:nvPr>
        </p:nvSpPr>
        <p:spPr>
          <a:xfrm xmlns:a="http://schemas.openxmlformats.org/drawingml/2006/main">
            <a:off x="393699" y="344009"/>
            <a:ext cx="11404599" cy="5957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a:solidFill>
                  <a:schemeClr val="accent1"/>
                </a:solidFill>
              </a:rPr>
              <a:t>Three content pillars that connect search to products</a:t>
            </a:r>
          </a:p>
        </p:txBody>
      </p:sp>
      <p:sp>
        <p:nvSpPr>
          <p:cNvPr id="3" name="Google Shape;534;p58">
            <a:extLst xmlns:a="http://schemas.openxmlformats.org/drawingml/2006/main">
              <a:ext uri="{FF2B5EF4-FFF2-40B4-BE49-F238E27FC236}">
                <a16:creationId xmlns:a16="http://schemas.microsoft.com/office/drawing/2014/main" id="{076E58D8-94E3-59EF-6F5D-94479531D945}"/>
              </a:ext>
            </a:extLst>
          </p:cNvPr>
          <p:cNvSpPr>
            <a:spLocks xmlns:a="http://schemas.openxmlformats.org/drawingml/2006/main" noGrp="1"/>
          </p:cNvSpPr>
          <p:nvPr/>
        </p:nvSpPr>
        <p:spPr>
          <a:xfrm xmlns:a="http://schemas.openxmlformats.org/drawingml/2006/main">
            <a:off x="393700" y="2374900"/>
            <a:ext cx="55372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A useful content piece should make the buyer more confident about the decision they already need to make. The product pages and service pages then act as proof—not as disconnected catalog entries.</a:t>
            </a:r>
          </a:p>
        </p:txBody>
      </p:sp>
      <p:sp>
        <p:nvSpPr>
          <p:cNvPr id="5" name="Google Shape;534;p58">
            <a:extLst xmlns:a="http://schemas.openxmlformats.org/drawingml/2006/main">
              <a:ext uri="{FF2B5EF4-FFF2-40B4-BE49-F238E27FC236}">
                <a16:creationId xmlns:a16="http://schemas.microsoft.com/office/drawing/2014/main" id="{EC39CC4A-7702-F34C-BFC1-C34643FFFDEE}"/>
              </a:ext>
            </a:extLst>
          </p:cNvPr>
          <p:cNvSpPr>
            <a:spLocks xmlns:a="http://schemas.openxmlformats.org/drawingml/2006/main" noGrp="1"/>
          </p:cNvSpPr>
          <p:nvPr/>
        </p:nvSpPr>
        <p:spPr>
          <a:xfrm xmlns:a="http://schemas.openxmlformats.org/drawingml/2006/main">
            <a:off x="393700" y="1436666"/>
            <a:ext cx="5537200" cy="719318"/>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000">
                <a:latin typeface="+mj-lt"/>
                <a:ea typeface="+mj-lt"/>
                <a:cs typeface="+mj-lt"/>
              </a:rPr>
              <a:t>Each pillar should teach a problem, show how DN Tech works, and point to one next step.</a:t>
            </a:r>
          </a:p>
        </p:txBody>
      </p:sp>
      <p:sp>
        <p:nvSpPr>
          <p:cNvPr id="27" name="Content Placeholder 10">
            <a:extLst xmlns:a="http://schemas.openxmlformats.org/drawingml/2006/main">
              <a:ext uri="{FF2B5EF4-FFF2-40B4-BE49-F238E27FC236}">
                <a16:creationId xmlns:a16="http://schemas.microsoft.com/office/drawing/2014/main" id="{B4FA777D-1E43-2118-018B-D684DB7EFEF1}"/>
              </a:ext>
            </a:extLst>
          </p:cNvPr>
          <p:cNvSpPr>
            <a:spLocks xmlns:a="http://schemas.openxmlformats.org/drawingml/2006/main" noGrp="1"/>
          </p:cNvSpPr>
          <p:nvPr/>
        </p:nvSpPr>
        <p:spPr>
          <a:xfrm xmlns:a="http://schemas.openxmlformats.org/drawingml/2006/main">
            <a:off x="6648104" y="2184252"/>
            <a:ext cx="5014766" cy="59753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indent="0" algn="l" defTabSz="914400">
              <a:lnSpc>
                <a:spcPct val="100000"/>
              </a:lnSpc>
              <a:spcBef>
                <a:spcPts val="1300"/>
              </a:spcBef>
              <a:spcAft>
                <a:spcPts val="1300"/>
              </a:spcAft>
              <a:buClrTx/>
              <a:buSzTx/>
              <a:buFontTx/>
              <a:buNone/>
            </a:pPr>
            <a:r>
              <a:rPr sz="1400" b="0" i="0" u="none" cap="none">
                <a:ln>
                  <a:noFill/>
                </a:ln>
                <a:latin typeface="Helvetica Neue"/>
                <a:ea typeface="Helvetica Neue"/>
                <a:cs typeface="Helvetica Neue"/>
              </a:rPr>
              <a:t>MVP scope, delivery trade-offs, product architecture, and what “done” means.</a:t>
            </a:r>
          </a:p>
        </p:txBody>
      </p:sp>
      <p:sp>
        <p:nvSpPr>
          <p:cNvPr id="28" name="TextBox 27">
            <a:extLst xmlns:a="http://schemas.openxmlformats.org/drawingml/2006/main">
              <a:ext uri="{FF2B5EF4-FFF2-40B4-BE49-F238E27FC236}">
                <a16:creationId xmlns:a16="http://schemas.microsoft.com/office/drawing/2014/main" id="{F2F01BD9-1359-C69B-3F1A-A36534227FFE}"/>
              </a:ext>
            </a:extLst>
          </p:cNvPr>
          <p:cNvSpPr>
            <a:spLocks xmlns:a="http://schemas.openxmlformats.org/drawingml/2006/main" noGrp="1"/>
          </p:cNvSpPr>
          <p:nvPr/>
        </p:nvSpPr>
        <p:spPr>
          <a:xfrm xmlns:a="http://schemas.openxmlformats.org/drawingml/2006/main">
            <a:off x="6644793" y="1813255"/>
            <a:ext cx="5014766" cy="24323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indent="0" algn="l" defTabSz="914400">
              <a:lnSpc>
                <a:spcPct val="114000"/>
              </a:lnSpc>
              <a:spcBef>
                <a:spcPts val="0"/>
              </a:spcBef>
              <a:spcAft>
                <a:spcPts val="800"/>
              </a:spcAft>
              <a:buClrTx/>
              <a:buSzTx/>
              <a:buFontTx/>
              <a:buNone/>
            </a:pPr>
            <a:r>
              <a:rPr sz="1400" b="0" i="0" u="none" cap="none">
                <a:ln>
                  <a:noFill/>
                </a:ln>
                <a:solidFill>
                  <a:srgbClr val="3357B8"/>
                </a:solidFill>
                <a:latin typeface="Helvetica Neue Medium"/>
                <a:ea typeface="Helvetica Neue Medium"/>
                <a:cs typeface="Helvetica Neue Medium"/>
              </a:rPr>
              <a:t>MVP &amp; product engineering</a:t>
            </a:r>
          </a:p>
        </p:txBody>
      </p:sp>
      <p:sp>
        <p:nvSpPr>
          <p:cNvPr id="2" name="Rounded Rectangle 1">
            <a:extLst xmlns:a="http://schemas.openxmlformats.org/drawingml/2006/main">
              <a:ext uri="{FF2B5EF4-FFF2-40B4-BE49-F238E27FC236}">
                <a16:creationId xmlns:a16="http://schemas.microsoft.com/office/drawing/2014/main" id="{3C99D68F-34ED-A722-D7DB-03942B0B77DB}"/>
              </a:ext>
            </a:extLst>
          </p:cNvPr>
          <p:cNvSpPr>
            <a:spLocks xmlns:a="http://schemas.openxmlformats.org/drawingml/2006/main" noGrp="1"/>
          </p:cNvSpPr>
          <p:nvPr/>
        </p:nvSpPr>
        <p:spPr>
          <a:xfrm xmlns:a="http://schemas.openxmlformats.org/drawingml/2006/main">
            <a:off x="6405842" y="152193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Content Placeholder 10">
            <a:extLst xmlns:a="http://schemas.openxmlformats.org/drawingml/2006/main">
              <a:ext uri="{FF2B5EF4-FFF2-40B4-BE49-F238E27FC236}">
                <a16:creationId xmlns:a16="http://schemas.microsoft.com/office/drawing/2014/main" id="{32674159-B6E6-B9EF-D753-5EF1E687140B}"/>
              </a:ext>
            </a:extLst>
          </p:cNvPr>
          <p:cNvSpPr>
            <a:spLocks xmlns:a="http://schemas.openxmlformats.org/drawingml/2006/main" noGrp="1"/>
          </p:cNvSpPr>
          <p:nvPr/>
        </p:nvSpPr>
        <p:spPr>
          <a:xfrm xmlns:a="http://schemas.openxmlformats.org/drawingml/2006/main">
            <a:off x="6648104" y="3693012"/>
            <a:ext cx="5014766" cy="59753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indent="0" algn="l" defTabSz="914400">
              <a:lnSpc>
                <a:spcPct val="100000"/>
              </a:lnSpc>
              <a:spcBef>
                <a:spcPts val="1300"/>
              </a:spcBef>
              <a:spcAft>
                <a:spcPts val="1300"/>
              </a:spcAft>
              <a:buClrTx/>
              <a:buSzTx/>
              <a:buFontTx/>
              <a:buNone/>
            </a:pPr>
            <a:r>
              <a:rPr sz="1400" b="0" i="0" u="none" cap="none">
                <a:ln>
                  <a:noFill/>
                </a:ln>
                <a:latin typeface="Helvetica Neue"/>
                <a:ea typeface="Helvetica Neue"/>
                <a:cs typeface="Helvetica Neue"/>
              </a:rPr>
              <a:t>API integration, legacy modernization, approvals, and operational handoffs.</a:t>
            </a:r>
          </a:p>
        </p:txBody>
      </p:sp>
      <p:sp>
        <p:nvSpPr>
          <p:cNvPr id="6" name="TextBox 5">
            <a:extLst xmlns:a="http://schemas.openxmlformats.org/drawingml/2006/main">
              <a:ext uri="{FF2B5EF4-FFF2-40B4-BE49-F238E27FC236}">
                <a16:creationId xmlns:a16="http://schemas.microsoft.com/office/drawing/2014/main" id="{57D84212-7716-6AFC-2CCA-1118E41834EC}"/>
              </a:ext>
            </a:extLst>
          </p:cNvPr>
          <p:cNvSpPr>
            <a:spLocks xmlns:a="http://schemas.openxmlformats.org/drawingml/2006/main" noGrp="1"/>
          </p:cNvSpPr>
          <p:nvPr/>
        </p:nvSpPr>
        <p:spPr>
          <a:xfrm xmlns:a="http://schemas.openxmlformats.org/drawingml/2006/main">
            <a:off x="6644793" y="3322015"/>
            <a:ext cx="5014766" cy="24323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indent="0" algn="l" defTabSz="914400">
              <a:lnSpc>
                <a:spcPct val="114000"/>
              </a:lnSpc>
              <a:spcBef>
                <a:spcPts val="0"/>
              </a:spcBef>
              <a:spcAft>
                <a:spcPts val="800"/>
              </a:spcAft>
              <a:buClrTx/>
              <a:buSzTx/>
              <a:buFontTx/>
              <a:buNone/>
            </a:pPr>
            <a:r>
              <a:rPr sz="1400" b="0" i="0" u="none" cap="none">
                <a:ln>
                  <a:noFill/>
                </a:ln>
                <a:solidFill>
                  <a:srgbClr val="3357B8"/>
                </a:solidFill>
                <a:latin typeface="Helvetica Neue Medium"/>
                <a:ea typeface="Helvetica Neue Medium"/>
                <a:cs typeface="Helvetica Neue Medium"/>
              </a:rPr>
              <a:t>Workflow &amp; integration</a:t>
            </a:r>
          </a:p>
        </p:txBody>
      </p:sp>
      <p:sp>
        <p:nvSpPr>
          <p:cNvPr id="7" name="Rounded Rectangle 6">
            <a:extLst xmlns:a="http://schemas.openxmlformats.org/drawingml/2006/main">
              <a:ext uri="{FF2B5EF4-FFF2-40B4-BE49-F238E27FC236}">
                <a16:creationId xmlns:a16="http://schemas.microsoft.com/office/drawing/2014/main" id="{520BED9B-3AD0-B986-23FF-346EFF8EE6FA}"/>
              </a:ext>
            </a:extLst>
          </p:cNvPr>
          <p:cNvSpPr>
            <a:spLocks xmlns:a="http://schemas.openxmlformats.org/drawingml/2006/main" noGrp="1"/>
          </p:cNvSpPr>
          <p:nvPr/>
        </p:nvSpPr>
        <p:spPr>
          <a:xfrm xmlns:a="http://schemas.openxmlformats.org/drawingml/2006/main">
            <a:off x="6405842" y="303069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Content Placeholder 10">
            <a:extLst xmlns:a="http://schemas.openxmlformats.org/drawingml/2006/main">
              <a:ext uri="{FF2B5EF4-FFF2-40B4-BE49-F238E27FC236}">
                <a16:creationId xmlns:a16="http://schemas.microsoft.com/office/drawing/2014/main" id="{58865802-6967-7210-3371-DEA6828B57A2}"/>
              </a:ext>
            </a:extLst>
          </p:cNvPr>
          <p:cNvSpPr>
            <a:spLocks xmlns:a="http://schemas.openxmlformats.org/drawingml/2006/main" noGrp="1"/>
          </p:cNvSpPr>
          <p:nvPr/>
        </p:nvSpPr>
        <p:spPr>
          <a:xfrm xmlns:a="http://schemas.openxmlformats.org/drawingml/2006/main">
            <a:off x="6648105" y="5201772"/>
            <a:ext cx="5014766" cy="59753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indent="0" algn="l" defTabSz="914400">
              <a:lnSpc>
                <a:spcPct val="100000"/>
              </a:lnSpc>
              <a:spcBef>
                <a:spcPts val="1300"/>
              </a:spcBef>
              <a:spcAft>
                <a:spcPts val="1300"/>
              </a:spcAft>
              <a:buClrTx/>
              <a:buSzTx/>
              <a:buFontTx/>
              <a:buNone/>
            </a:pPr>
            <a:r>
              <a:rPr sz="1400" b="0" i="0" u="none" cap="none">
                <a:ln>
                  <a:noFill/>
                </a:ln>
                <a:latin typeface="Helvetica Neue"/>
                <a:ea typeface="Helvetica Neue"/>
                <a:cs typeface="Helvetica Neue"/>
              </a:rPr>
              <a:t>Use dnPeople, dnCore, and dnShop as evidence of real workflow understanding.</a:t>
            </a:r>
          </a:p>
        </p:txBody>
      </p:sp>
      <p:sp>
        <p:nvSpPr>
          <p:cNvPr id="9" name="TextBox 8">
            <a:extLst xmlns:a="http://schemas.openxmlformats.org/drawingml/2006/main">
              <a:ext uri="{FF2B5EF4-FFF2-40B4-BE49-F238E27FC236}">
                <a16:creationId xmlns:a16="http://schemas.microsoft.com/office/drawing/2014/main" id="{DD2FEB2E-B2D7-376B-AFC1-B25E2E37C15B}"/>
              </a:ext>
            </a:extLst>
          </p:cNvPr>
          <p:cNvSpPr>
            <a:spLocks xmlns:a="http://schemas.openxmlformats.org/drawingml/2006/main" noGrp="1"/>
          </p:cNvSpPr>
          <p:nvPr/>
        </p:nvSpPr>
        <p:spPr>
          <a:xfrm xmlns:a="http://schemas.openxmlformats.org/drawingml/2006/main">
            <a:off x="6644794" y="4830775"/>
            <a:ext cx="5014766" cy="24323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indent="0" algn="l" defTabSz="914400">
              <a:lnSpc>
                <a:spcPct val="114000"/>
              </a:lnSpc>
              <a:spcBef>
                <a:spcPts val="0"/>
              </a:spcBef>
              <a:spcAft>
                <a:spcPts val="800"/>
              </a:spcAft>
              <a:buClrTx/>
              <a:buSzTx/>
              <a:buFontTx/>
              <a:buNone/>
            </a:pPr>
            <a:r>
              <a:rPr sz="1400" b="0" i="0" u="none" cap="none">
                <a:ln>
                  <a:noFill/>
                </a:ln>
                <a:solidFill>
                  <a:srgbClr val="3357B8"/>
                </a:solidFill>
                <a:latin typeface="Helvetica Neue Medium"/>
                <a:ea typeface="Helvetica Neue Medium"/>
                <a:cs typeface="Helvetica Neue Medium"/>
              </a:rPr>
              <a:t>Products in practice</a:t>
            </a:r>
          </a:p>
        </p:txBody>
      </p:sp>
      <p:sp>
        <p:nvSpPr>
          <p:cNvPr id="10" name="Rounded Rectangle 9">
            <a:extLst xmlns:a="http://schemas.openxmlformats.org/drawingml/2006/main">
              <a:ext uri="{FF2B5EF4-FFF2-40B4-BE49-F238E27FC236}">
                <a16:creationId xmlns:a16="http://schemas.microsoft.com/office/drawing/2014/main" id="{F95C5540-5014-B354-3651-51BA127570AA}"/>
              </a:ext>
            </a:extLst>
          </p:cNvPr>
          <p:cNvSpPr>
            <a:spLocks xmlns:a="http://schemas.openxmlformats.org/drawingml/2006/main" noGrp="1"/>
          </p:cNvSpPr>
          <p:nvPr/>
        </p:nvSpPr>
        <p:spPr>
          <a:xfrm xmlns:a="http://schemas.openxmlformats.org/drawingml/2006/main">
            <a:off x="6405843" y="453945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336614037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6</a:t>
            </a:fld>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solidFill>
                  <a:schemeClr val="accent1"/>
                </a:solidFill>
                <a:latin typeface="Roboto Medium"/>
                <a:ea typeface="Roboto Medium"/>
                <a:cs typeface="Roboto Medium"/>
              </a:rPr>
              <a:t>Search: high-intent problems</a:t>
            </a:r>
          </a:p>
          <a:p xmlns:a="http://schemas.openxmlformats.org/drawingml/2006/main">
            <a:pPr marL="0" indent="0">
              <a:lnSpc>
                <a:spcPct val="114000"/>
              </a:lnSpc>
              <a:spcBef>
                <a:spcPts val="0"/>
              </a:spcBef>
              <a:spcAft>
                <a:spcPts val="800"/>
              </a:spcAft>
              <a:buFont typeface="Arial"/>
              <a:buNone/>
            </a:pPr>
            <a:r>
              <a:rPr sz="1600">
                <a:solidFill>
                  <a:prstClr val="black"/>
                </a:solidFill>
              </a:rPr>
              <a:t>MVP cost, software development Indonesia, custom app scope, and delivery timeline.</a:t>
            </a:r>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solidFill>
                  <a:schemeClr val="accent1"/>
                </a:solidFill>
                <a:latin typeface="Roboto Medium"/>
                <a:ea typeface="Roboto Medium"/>
                <a:cs typeface="Roboto Medium"/>
              </a:rPr>
              <a:t>Search: operational systems</a:t>
            </a:r>
          </a:p>
          <a:p xmlns:a="http://schemas.openxmlformats.org/drawingml/2006/main">
            <a:pPr marL="0" indent="0">
              <a:lnSpc>
                <a:spcPct val="114000"/>
              </a:lnSpc>
              <a:spcBef>
                <a:spcPts val="0"/>
              </a:spcBef>
              <a:spcAft>
                <a:spcPts val="800"/>
              </a:spcAft>
              <a:buFont typeface="Arial"/>
              <a:buNone/>
            </a:pPr>
            <a:r>
              <a:rPr sz="1600">
                <a:solidFill>
                  <a:prstClr val="black"/>
                </a:solidFill>
              </a:rPr>
              <a:t>API integration, multi-branch HR, workflow approval, and legacy modernization.</a:t>
            </a:r>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p>
        </p:txBody>
      </p:sp>
      <p:sp>
        <p:nvSpPr>
          <p:cNvPr id="4" name="Title 3">
            <a:extLst xmlns:a="http://schemas.openxmlformats.org/drawingml/2006/main">
              <a:ext uri="{FF2B5EF4-FFF2-40B4-BE49-F238E27FC236}">
                <a16:creationId xmlns:a16="http://schemas.microsoft.com/office/drawing/2014/main" id="{2F7C895E-DE9C-ED5D-5936-715D047B60E4}"/>
              </a:ext>
            </a:extLst>
          </p:cNvPr>
          <p:cNvSpPr>
            <a:spLocks xmlns:a="http://schemas.openxmlformats.org/drawingml/2006/main" noGrp="1"/>
          </p:cNvSpPr>
          <p:nvPr>
            <p:ph type="title" idx="0"/>
          </p:nvPr>
        </p:nvSpPr>
        <p:spPr>
          <a:xfrm xmlns:a="http://schemas.openxmlformats.org/drawingml/2006/main">
            <a:off x="393700" y="344008"/>
            <a:ext cx="11404600" cy="755665"/>
          </a:xfrm>
        </p:spPr>
        <p:txBody>
          <a:bodyPr xmlns:a="http://schemas.openxmlformats.org/drawingml/2006/main"/>
          <a:lstStyle xmlns:a="http://schemas.openxmlformats.org/drawingml/2006/main"/>
          <a:p xmlns:a="http://schemas.openxmlformats.org/drawingml/2006/main">
            <a:r>
              <a:rPr>
                <a:solidFill>
                  <a:schemeClr val="accent1"/>
                </a:solidFill>
              </a:rPr>
              <a:t>Make content searchable first, shareable second</a:t>
            </a:r>
          </a:p>
        </p:txBody>
      </p:sp>
      <p:sp>
        <p:nvSpPr>
          <p:cNvPr id="5" name="Rounded Rectangle 4">
            <a:extLst xmlns:a="http://schemas.openxmlformats.org/drawingml/2006/main">
              <a:ext uri="{FF2B5EF4-FFF2-40B4-BE49-F238E27FC236}">
                <a16:creationId xmlns:a16="http://schemas.microsoft.com/office/drawing/2014/main" id="{E49F3E50-E7DD-037F-1687-7A3A08473928}"/>
              </a:ext>
            </a:extLst>
          </p:cNvPr>
          <p:cNvSpPr>
            <a:spLocks xmlns:a="http://schemas.openxmlformats.org/drawingml/2006/main" noGrp="1"/>
          </p:cNvSpPr>
          <p:nvPr/>
        </p:nvSpPr>
        <p:spPr>
          <a:xfrm xmlns:a="http://schemas.openxmlformats.org/drawingml/2006/main">
            <a:off x="422753"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tent Placeholder 9">
            <a:extLst xmlns:a="http://schemas.openxmlformats.org/drawingml/2006/main">
              <a:ext uri="{FF2B5EF4-FFF2-40B4-BE49-F238E27FC236}">
                <a16:creationId xmlns:a16="http://schemas.microsoft.com/office/drawing/2014/main" id="{895137EF-1168-9543-8134-200AA74D8FBB}"/>
              </a:ext>
            </a:extLst>
          </p:cNvPr>
          <p:cNvSpPr>
            <a:spLocks xmlns:a="http://schemas.openxmlformats.org/drawingml/2006/main" noGrp="1"/>
          </p:cNvSpPr>
          <p:nvPr/>
        </p:nvSpPr>
        <p:spPr>
          <a:xfrm xmlns:a="http://schemas.openxmlformats.org/drawingml/2006/main">
            <a:off x="7356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solidFill>
                  <a:schemeClr val="accent1"/>
                </a:solidFill>
                <a:latin typeface="Roboto Medium"/>
                <a:ea typeface="Roboto Medium"/>
                <a:cs typeface="Roboto Medium"/>
              </a:rPr>
              <a:t>Share: founder POV</a:t>
            </a:r>
          </a:p>
          <a:p xmlns:a="http://schemas.openxmlformats.org/drawingml/2006/main">
            <a:pPr marL="0" indent="0">
              <a:lnSpc>
                <a:spcPct val="114000"/>
              </a:lnSpc>
              <a:spcBef>
                <a:spcPts val="0"/>
              </a:spcBef>
              <a:spcAft>
                <a:spcPts val="800"/>
              </a:spcAft>
              <a:buFont typeface="Arial"/>
              <a:buNone/>
            </a:pPr>
            <a:r>
              <a:rPr sz="1600">
                <a:solidFill>
                  <a:prstClr val="black"/>
                </a:solidFill>
              </a:rPr>
              <a:t>Build vs buy, why projects miss timelines, transparent quotes, and product build notes.</a:t>
            </a:r>
          </a:p>
        </p:txBody>
      </p:sp>
      <p:sp>
        <p:nvSpPr>
          <p:cNvPr id="7" name="Google Shape;340;p61">
            <a:extLst xmlns:a="http://schemas.openxmlformats.org/drawingml/2006/main">
              <a:ext uri="{FF2B5EF4-FFF2-40B4-BE49-F238E27FC236}">
                <a16:creationId xmlns:a16="http://schemas.microsoft.com/office/drawing/2014/main" id="{A926CAA1-5F44-3769-A410-E058BAEE3B13}"/>
              </a:ext>
            </a:extLst>
          </p:cNvPr>
          <p:cNvSpPr>
            <a:spLocks xmlns:a="http://schemas.openxmlformats.org/drawingml/2006/main" noGrp="1"/>
          </p:cNvSpPr>
          <p:nvPr/>
        </p:nvSpPr>
        <p:spPr>
          <a:xfrm xmlns:a="http://schemas.openxmlformats.org/drawingml/2006/main">
            <a:off x="7414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p>
        </p:txBody>
      </p:sp>
      <p:sp>
        <p:nvSpPr>
          <p:cNvPr id="17" name="Google Shape;534;p58">
            <a:extLst xmlns:a="http://schemas.openxmlformats.org/drawingml/2006/main">
              <a:ext uri="{FF2B5EF4-FFF2-40B4-BE49-F238E27FC236}">
                <a16:creationId xmlns:a16="http://schemas.microsoft.com/office/drawing/2014/main" id="{208EF3D1-5C57-8D4F-49C8-21BD74420786}"/>
              </a:ext>
            </a:extLst>
          </p:cNvPr>
          <p:cNvSpPr>
            <a:spLocks xmlns:a="http://schemas.openxmlformats.org/drawingml/2006/main" noGrp="1"/>
          </p:cNvSpPr>
          <p:nvPr/>
        </p:nvSpPr>
        <p:spPr>
          <a:xfrm xmlns:a="http://schemas.openxmlformats.org/drawingml/2006/main">
            <a:off x="393700" y="1820543"/>
            <a:ext cx="11404600" cy="132661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Search content captures an existing problem. Shareable content earns trust before the buyer is ready. Keep the connection explicit: each topic should map to a landing page, a proof asset, and one CTA.</a:t>
            </a:r>
          </a:p>
        </p:txBody>
      </p:sp>
      <p:sp>
        <p:nvSpPr>
          <p:cNvPr id="18" name="Google Shape;534;p58">
            <a:extLst xmlns:a="http://schemas.openxmlformats.org/drawingml/2006/main">
              <a:ext uri="{FF2B5EF4-FFF2-40B4-BE49-F238E27FC236}">
                <a16:creationId xmlns:a16="http://schemas.microsoft.com/office/drawing/2014/main" id="{93CCF932-231F-7EA0-6520-FFB192B4EFA5}"/>
              </a:ext>
            </a:extLst>
          </p:cNvPr>
          <p:cNvSpPr>
            <a:spLocks xmlns:a="http://schemas.openxmlformats.org/drawingml/2006/main" noGrp="1"/>
          </p:cNvSpPr>
          <p:nvPr/>
        </p:nvSpPr>
        <p:spPr>
          <a:xfrm xmlns:a="http://schemas.openxmlformats.org/drawingml/2006/main">
            <a:off x="393699" y="1318016"/>
            <a:ext cx="11404599"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Rule: every topic needs an audience, a job, proof, and a next step.</a:t>
            </a:r>
          </a:p>
        </p:txBody>
      </p:sp>
    </p:spTree>
    <p:extLst>
      <p:ext uri="{BB962C8B-B14F-4D97-AF65-F5344CB8AC3E}">
        <p14:creationId xmlns:p14="http://schemas.microsoft.com/office/powerpoint/2010/main" val="15661830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936F667-D10C-5292-AA3B-96BE2CAC84D9}"/>
              </a:ext>
            </a:extLst>
          </p:cNvPr>
          <p:cNvSpPr>
            <a:spLocks xmlns:a="http://schemas.openxmlformats.org/drawingml/2006/main" noGrp="1"/>
          </p:cNvSpPr>
          <p:nvPr>
            <p:ph idx="1"/>
          </p:nvPr>
        </p:nvSpPr>
        <p:spPr>
          <a:xfrm xmlns:a="http://schemas.openxmlformats.org/drawingml/2006/main">
            <a:off x="393700"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400"/>
              <a:t>JTBD — What job are we helping?</a:t>
            </a:r>
          </a:p>
          <a:p xmlns:a="http://schemas.openxmlformats.org/drawingml/2006/main">
            <a:pPr marL="0" indent="0">
              <a:lnSpc>
                <a:spcPct val="114000"/>
              </a:lnSpc>
              <a:spcBef>
                <a:spcPts val="0"/>
              </a:spcBef>
              <a:spcAft>
                <a:spcPts val="800"/>
              </a:spcAft>
              <a:buNone/>
            </a:pPr>
            <a:r>
              <a:rPr sz="1400"/>
              <a:t>A founder wants to ship with less uncertainty. An operations lead wants workflows that stay controlled as the business grows. An integration buyer wants fewer manual handoffs.</a:t>
            </a:r>
          </a:p>
          <a:p xmlns:a="http://schemas.openxmlformats.org/drawingml/2006/main">
            <a:pPr marL="0" indent="0">
              <a:lnSpc>
                <a:spcPct val="114000"/>
              </a:lnSpc>
              <a:spcBef>
                <a:spcPts val="0"/>
              </a:spcBef>
              <a:spcAft>
                <a:spcPts val="800"/>
              </a:spcAft>
              <a:buNone/>
            </a:pPr>
            <a:r>
              <a:rPr sz="1400"/>
              <a:t/>
            </a:r>
          </a:p>
          <a:p xmlns:a="http://schemas.openxmlformats.org/drawingml/2006/main">
            <a:pPr marL="0" indent="0">
              <a:lnSpc>
                <a:spcPct val="114000"/>
              </a:lnSpc>
              <a:spcBef>
                <a:spcPts val="0"/>
              </a:spcBef>
              <a:spcAft>
                <a:spcPts val="800"/>
              </a:spcAft>
              <a:buNone/>
            </a:pPr>
            <a:r>
              <a:rPr sz="1400"/>
              <a:t>North Star — qualified conversations tied to a named buying job, not pageviews alone.</a:t>
            </a: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7</a:t>
            </a:fld>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55026"/>
            <a:ext cx="7835900" cy="102927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a:solidFill>
                  <a:schemeClr val="accent1"/>
                </a:solidFill>
              </a:rPr>
              <a:t>CPO forcing review</a:t>
            </a:r>
          </a:p>
        </p:txBody>
      </p:sp>
      <p:sp>
        <p:nvSpPr>
          <p:cNvPr id="2" name="Google Shape;534;p58">
            <a:extLst xmlns:a="http://schemas.openxmlformats.org/drawingml/2006/main">
              <a:ext uri="{FF2B5EF4-FFF2-40B4-BE49-F238E27FC236}">
                <a16:creationId xmlns:a16="http://schemas.microsoft.com/office/drawing/2014/main" id="{A4A94F3C-B1B2-7289-7098-7C66C8A291D6}"/>
              </a:ext>
            </a:extLst>
          </p:cNvPr>
          <p:cNvSpPr>
            <a:spLocks xmlns:a="http://schemas.openxmlformats.org/drawingml/2006/main" noGrp="1"/>
          </p:cNvSpPr>
          <p:nvPr/>
        </p:nvSpPr>
        <p:spPr>
          <a:xfrm xmlns:a="http://schemas.openxmlformats.org/drawingml/2006/main">
            <a:off x="6265111"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t>PMF signal — do qualified visitors return, ask specific questions, request a scoped conversation, or activate a product proof path?</a:t>
            </a:r>
          </a:p>
          <a:p xmlns:a="http://schemas.openxmlformats.org/drawingml/2006/main">
            <a:pPr marL="0" indent="0">
              <a:lnSpc>
                <a:spcPct val="114000"/>
              </a:lnSpc>
              <a:spcBef>
                <a:spcPts val="0"/>
              </a:spcBef>
              <a:spcAft>
                <a:spcPts val="800"/>
              </a:spcAft>
              <a:buFont typeface="Arial"/>
              <a:buNone/>
            </a:pPr>
            <a:r>
              <a:rPr sz="1400"/>
              <a:t/>
            </a:r>
          </a:p>
          <a:p xmlns:a="http://schemas.openxmlformats.org/drawingml/2006/main">
            <a:pPr marL="0" indent="0">
              <a:lnSpc>
                <a:spcPct val="114000"/>
              </a:lnSpc>
              <a:spcBef>
                <a:spcPts val="0"/>
              </a:spcBef>
              <a:spcAft>
                <a:spcPts val="800"/>
              </a:spcAft>
              <a:buFont typeface="Arial"/>
              <a:buNone/>
            </a:pPr>
            <a:r>
              <a:rPr sz="1400"/>
              <a:t>RICE — score reach, impact, confidence, and effort only after we have baseline GSC, analytics, and lead data.</a:t>
            </a:r>
          </a:p>
          <a:p xmlns:a="http://schemas.openxmlformats.org/drawingml/2006/main">
            <a:pPr marL="0" indent="0">
              <a:lnSpc>
                <a:spcPct val="114000"/>
              </a:lnSpc>
              <a:spcBef>
                <a:spcPts val="0"/>
              </a:spcBef>
              <a:spcAft>
                <a:spcPts val="800"/>
              </a:spcAft>
              <a:buFont typeface="Arial"/>
              <a:buNone/>
            </a:pPr>
            <a:r>
              <a:rPr sz="1400"/>
              <a:t/>
            </a:r>
          </a:p>
          <a:p xmlns:a="http://schemas.openxmlformats.org/drawingml/2006/main">
            <a:pPr marL="0" indent="0">
              <a:lnSpc>
                <a:spcPct val="114000"/>
              </a:lnSpc>
              <a:spcBef>
                <a:spcPts val="0"/>
              </a:spcBef>
              <a:spcAft>
                <a:spcPts val="800"/>
              </a:spcAft>
              <a:buFont typeface="Arial"/>
              <a:buNone/>
            </a:pPr>
            <a:r>
              <a:rPr sz="1400"/>
              <a:t>Kill criteria — after 90 days, pause topics with no qualified engagement, no product proof usage, and no evidence of a better audience fit.</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3700" y="1310936"/>
            <a:ext cx="5537200" cy="719318"/>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000">
                <a:latin typeface="+mj-lt"/>
                <a:ea typeface="+mj-lt"/>
                <a:cs typeface="+mj-lt"/>
              </a:rPr>
              <a:t>Verdict: 🟡 SHARPEN</a:t>
            </a:r>
          </a:p>
        </p:txBody>
      </p:sp>
    </p:spTree>
    <p:extLst>
      <p:ext uri="{BB962C8B-B14F-4D97-AF65-F5344CB8AC3E}">
        <p14:creationId xmlns:p14="http://schemas.microsoft.com/office/powerpoint/2010/main" val="54622172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F5D028D-B73B-5BFF-0AA5-65F94FB570F9}"/>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8</a:t>
            </a:fld>
          </a:p>
        </p:txBody>
      </p:sp>
      <p:sp>
        <p:nvSpPr>
          <p:cNvPr id="533" name="Google Shape;533;p58">
            <a:extLst xmlns:a="http://schemas.openxmlformats.org/drawingml/2006/main">
              <a:ext uri="{FF2B5EF4-FFF2-40B4-BE49-F238E27FC236}">
                <a16:creationId xmlns:a16="http://schemas.microsoft.com/office/drawing/2014/main" id="{D035ED81-B82C-6CFE-FAA7-0911E05CDEB2}"/>
              </a:ext>
            </a:extLst>
          </p:cNvPr>
          <p:cNvSpPr>
            <a:spLocks xmlns:a="http://schemas.openxmlformats.org/drawingml/2006/main" noGrp="1"/>
          </p:cNvSpPr>
          <p:nvPr>
            <p:ph type="title" idx="0"/>
          </p:nvPr>
        </p:nvSpPr>
        <p:spPr>
          <a:xfrm xmlns:a="http://schemas.openxmlformats.org/drawingml/2006/main">
            <a:off x="393700" y="1170935"/>
            <a:ext cx="11404600" cy="1797958"/>
          </a:xfrm>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lgn="ctr">
              <a:buNone/>
            </a:pPr>
            <a:r>
              <a:rPr sz="4200">
                <a:solidFill>
                  <a:schemeClr val="accent1"/>
                </a:solidFill>
              </a:rPr>
              <a:t>Low-budget experiments with proof built in</a:t>
            </a:r>
          </a:p>
        </p:txBody>
      </p:sp>
      <p:sp>
        <p:nvSpPr>
          <p:cNvPr id="3" name="Google Shape;534;p58">
            <a:extLst xmlns:a="http://schemas.openxmlformats.org/drawingml/2006/main">
              <a:ext uri="{FF2B5EF4-FFF2-40B4-BE49-F238E27FC236}">
                <a16:creationId xmlns:a16="http://schemas.microsoft.com/office/drawing/2014/main" id="{6730FFED-E57C-67CB-4BAA-568126831AB5}"/>
              </a:ext>
            </a:extLst>
          </p:cNvPr>
          <p:cNvSpPr>
            <a:spLocks xmlns:a="http://schemas.openxmlformats.org/drawingml/2006/main" noGrp="1"/>
          </p:cNvSpPr>
          <p:nvPr/>
        </p:nvSpPr>
        <p:spPr>
          <a:xfrm xmlns:a="http://schemas.openxmlformats.org/drawingml/2006/main">
            <a:off x="2549677" y="3297710"/>
            <a:ext cx="7092645" cy="186590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ctr">
              <a:lnSpc>
                <a:spcPct val="114000"/>
              </a:lnSpc>
              <a:spcBef>
                <a:spcPts val="0"/>
              </a:spcBef>
              <a:spcAft>
                <a:spcPts val="800"/>
              </a:spcAft>
              <a:buFont typeface="Arial"/>
              <a:buNone/>
            </a:pPr>
            <a:r>
              <a:rPr sz="1600">
                <a:latin typeface="Helvetica Neue"/>
                <a:ea typeface="Helvetica Neue"/>
                <a:cs typeface="Helvetica Neue"/>
              </a:rPr>
              <a:t>1. Engineering-as-marketing: a scope/timeline or integration-readiness checklist.</a:t>
            </a:r>
          </a:p>
          <a:p xmlns:a="http://schemas.openxmlformats.org/drawingml/2006/main">
            <a:pPr marL="0" indent="0" algn="ctr">
              <a:lnSpc>
                <a:spcPct val="114000"/>
              </a:lnSpc>
              <a:spcBef>
                <a:spcPts val="0"/>
              </a:spcBef>
              <a:spcAft>
                <a:spcPts val="800"/>
              </a:spcAft>
              <a:buFont typeface="Arial"/>
              <a:buNone/>
            </a:pPr>
            <a:r>
              <a:t>2. Founder-led notes: one concrete lesson per week on LinkedIn or video.</a:t>
            </a:r>
          </a:p>
          <a:p xmlns:a="http://schemas.openxmlformats.org/drawingml/2006/main">
            <a:pPr marL="0" indent="0" algn="ctr">
              <a:lnSpc>
                <a:spcPct val="114000"/>
              </a:lnSpc>
              <a:spcBef>
                <a:spcPts val="0"/>
              </a:spcBef>
              <a:spcAft>
                <a:spcPts val="800"/>
              </a:spcAft>
              <a:buFont typeface="Arial"/>
              <a:buNone/>
            </a:pPr>
            <a:r>
              <a:t>3. Product-led proof: dnPeople workflow teardown or guided demo.</a:t>
            </a:r>
          </a:p>
          <a:p xmlns:a="http://schemas.openxmlformats.org/drawingml/2006/main">
            <a:pPr marL="0" indent="0" algn="ctr">
              <a:lnSpc>
                <a:spcPct val="114000"/>
              </a:lnSpc>
              <a:spcBef>
                <a:spcPts val="0"/>
              </a:spcBef>
              <a:spcAft>
                <a:spcPts val="800"/>
              </a:spcAft>
              <a:buFont typeface="Arial"/>
              <a:buNone/>
            </a:pPr>
            <a:r>
              <a:t>4. Comparison pages: build vs buy, custom vs off-the-shelf—without unsupported competitor claims.</a:t>
            </a:r>
          </a:p>
          <a:p xmlns:a="http://schemas.openxmlformats.org/drawingml/2006/main">
            <a:pPr marL="0" indent="0" algn="ctr">
              <a:lnSpc>
                <a:spcPct val="114000"/>
              </a:lnSpc>
              <a:spcBef>
                <a:spcPts val="0"/>
              </a:spcBef>
              <a:spcAft>
                <a:spcPts val="800"/>
              </a:spcAft>
              <a:buFont typeface="Arial"/>
              <a:buNone/>
            </a:pPr>
            <a:r>
              <a:t/>
            </a:r>
          </a:p>
          <a:p xmlns:a="http://schemas.openxmlformats.org/drawingml/2006/main">
            <a:pPr marL="0" indent="0" algn="ctr">
              <a:lnSpc>
                <a:spcPct val="114000"/>
              </a:lnSpc>
              <a:spcBef>
                <a:spcPts val="0"/>
              </a:spcBef>
              <a:spcAft>
                <a:spcPts val="800"/>
              </a:spcAft>
              <a:buFont typeface="Arial"/>
              <a:buNone/>
            </a:pPr>
            <a:r>
              <a:t>Start with the smallest useful version; keep only what creates qualified conversations or meaningful product proof usage.</a:t>
            </a:r>
          </a:p>
        </p:txBody>
      </p:sp>
    </p:spTree>
    <p:extLst>
      <p:ext uri="{BB962C8B-B14F-4D97-AF65-F5344CB8AC3E}">
        <p14:creationId xmlns:p14="http://schemas.microsoft.com/office/powerpoint/2010/main" val="34661421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6" name="Content Placeholder 15">
            <a:extLst xmlns:a="http://schemas.openxmlformats.org/drawingml/2006/main">
              <a:ext uri="{FF2B5EF4-FFF2-40B4-BE49-F238E27FC236}">
                <a16:creationId xmlns:a16="http://schemas.microsoft.com/office/drawing/2014/main" id="{0BCC789E-87DC-C416-5298-C7F6E26A9533}"/>
              </a:ext>
            </a:extLst>
          </p:cNvPr>
          <p:cNvSpPr>
            <a:spLocks xmlns:a="http://schemas.openxmlformats.org/drawingml/2006/main" noGrp="1"/>
          </p:cNvSpPr>
          <p:nvPr>
            <p:ph idx="1"/>
          </p:nvPr>
        </p:nvSpPr>
        <p:spPr>
          <a:xfrm xmlns:a="http://schemas.openxmlformats.org/drawingml/2006/main">
            <a:off x="393700" y="3822700"/>
            <a:ext cx="2595934" cy="1168400"/>
          </a:xfrm>
        </p:spPr>
        <p:txBody>
          <a:bodyPr xmlns:a="http://schemas.openxmlformats.org/drawingml/2006/main">
            <a:noAutofit/>
          </a:bodyPr>
          <a:lstStyle xmlns:a="http://schemas.openxmlformats.org/drawingml/2006/main"/>
          <a:p xmlns:a="http://schemas.openxmlformats.org/drawingml/2006/main">
            <a:pPr marL="0" indent="0">
              <a:lnSpc>
                <a:spcPct val="114000"/>
              </a:lnSpc>
              <a:spcBef>
                <a:spcPts val="0"/>
              </a:spcBef>
              <a:spcAft>
                <a:spcPts val="800"/>
              </a:spcAft>
              <a:buNone/>
            </a:pPr>
            <a:r>
              <a:rPr>
                <a:solidFill>
                  <a:schemeClr val="accent1"/>
                </a:solidFill>
                <a:latin typeface="Roboto Medium"/>
                <a:ea typeface="Roboto Medium"/>
                <a:cs typeface="Roboto Medium"/>
              </a:rPr>
              <a:t>90-day content operating plan</a:t>
            </a:r>
          </a:p>
          <a:p xmlns:a="http://schemas.openxmlformats.org/drawingml/2006/main">
            <a:pPr marL="0" indent="0">
              <a:lnSpc>
                <a:spcPct val="114000"/>
              </a:lnSpc>
              <a:spcBef>
                <a:spcPts val="0"/>
              </a:spcBef>
              <a:spcAft>
                <a:spcPts val="800"/>
              </a:spcAft>
              <a:buNone/>
            </a:pPr>
            <a:r>
              <a:t>Baseline first, then publish against a named buying job.</a:t>
            </a: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12</a:t>
            </a:fld>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7846838" cy="1034893"/>
          </a:xfrm>
        </p:spPr>
        <p:txBody>
          <a:bodyPr xmlns:a="http://schemas.openxmlformats.org/drawingml/2006/main"/>
          <a:lstStyle xmlns:a="http://schemas.openxmlformats.org/drawingml/2006/main"/>
          <a:p xmlns:a="http://schemas.openxmlformats.org/drawingml/2006/main">
            <a:r>
              <a:rPr>
                <a:solidFill>
                  <a:schemeClr val="accent1"/>
                </a:solidFill>
              </a:rPr>
              <a:t>From message clarity to evidence</a:t>
            </a:r>
          </a:p>
        </p:txBody>
      </p:sp>
      <p:sp>
        <p:nvSpPr>
          <p:cNvPr id="17" name="Text Placeholder 16">
            <a:extLst xmlns:a="http://schemas.openxmlformats.org/drawingml/2006/main">
              <a:ext uri="{FF2B5EF4-FFF2-40B4-BE49-F238E27FC236}">
                <a16:creationId xmlns:a16="http://schemas.microsoft.com/office/drawing/2014/main" id="{986AEEE5-7F7B-65AD-1D88-9157CF0514D8}"/>
              </a:ext>
            </a:extLst>
          </p:cNvPr>
          <p:cNvSpPr>
            <a:spLocks xmlns:a="http://schemas.openxmlformats.org/drawingml/2006/main" noGrp="1"/>
          </p:cNvSpPr>
          <p:nvPr>
            <p:ph type="body" idx="12"/>
          </p:nvPr>
        </p:nvSpPr>
        <p:spPr>
          <a:xfrm xmlns:a="http://schemas.openxmlformats.org/drawingml/2006/main">
            <a:off x="4317119" y="3822700"/>
            <a:ext cx="2595934" cy="1168400"/>
          </a:xfrm>
        </p:spPr>
        <p:txBody>
          <a:bodyPr xmlns:a="http://schemas.openxmlformats.org/drawingml/2006/main">
            <a:noAutofit/>
          </a:bodyPr>
          <a:lstStyle xmlns:a="http://schemas.openxmlformats.org/drawingml/2006/main"/>
          <a:p xmlns:a="http://schemas.openxmlformats.org/drawingml/2006/main">
            <a:pPr marL="0" marR="0" indent="0">
              <a:lnSpc>
                <a:spcPct val="114000"/>
              </a:lnSpc>
              <a:spcBef>
                <a:spcPts val="0"/>
              </a:spcBef>
              <a:spcAft>
                <a:spcPts val="800"/>
              </a:spcAft>
              <a:buClrTx/>
              <a:buSzTx/>
              <a:buNone/>
            </a:pPr>
            <a:r>
              <a:rPr sz="1600">
                <a:solidFill>
                  <a:schemeClr val="accent1"/>
                </a:solidFill>
                <a:latin typeface="Roboto Medium"/>
                <a:ea typeface="Roboto Medium"/>
                <a:cs typeface="Roboto Medium"/>
              </a:rPr>
              <a:t>0–30 DAYS</a:t>
            </a:r>
          </a:p>
          <a:p xmlns:a="http://schemas.openxmlformats.org/drawingml/2006/main">
            <a:pPr marL="0" marR="0" indent="0" algn="l" defTabSz="914400">
              <a:lnSpc>
                <a:spcPct val="114000"/>
              </a:lnSpc>
              <a:spcBef>
                <a:spcPts val="0"/>
              </a:spcBef>
              <a:spcAft>
                <a:spcPts val="800"/>
              </a:spcAft>
              <a:buClrTx/>
              <a:buSzTx/>
              <a:buFont typeface="Arial"/>
              <a:buNone/>
            </a:pPr>
            <a:r>
              <a:rPr sz="1600" b="0" i="0" u="none" cap="none">
                <a:ln>
                  <a:noFill/>
                </a:ln>
                <a:solidFill>
                  <a:prstClr val="black"/>
                </a:solidFill>
              </a:rPr>
              <a:t>Rewrite homepage and priority service/product pages. Set GSC/analytics baselines. Interview recent leads and tag their buying jobs.</a:t>
            </a:r>
          </a:p>
        </p:txBody>
      </p:sp>
      <p:sp>
        <p:nvSpPr>
          <p:cNvPr id="18" name="Content Placeholder 17">
            <a:extLst xmlns:a="http://schemas.openxmlformats.org/drawingml/2006/main">
              <a:ext uri="{FF2B5EF4-FFF2-40B4-BE49-F238E27FC236}">
                <a16:creationId xmlns:a16="http://schemas.microsoft.com/office/drawing/2014/main" id="{B32A8A18-E9FA-02B4-6667-53C019EC43C0}"/>
              </a:ext>
            </a:extLst>
          </p:cNvPr>
          <p:cNvSpPr>
            <a:spLocks xmlns:a="http://schemas.openxmlformats.org/drawingml/2006/main" noGrp="1"/>
          </p:cNvSpPr>
          <p:nvPr>
            <p:ph idx="13"/>
          </p:nvPr>
        </p:nvSpPr>
        <p:spPr>
          <a:xfrm xmlns:a="http://schemas.openxmlformats.org/drawingml/2006/main">
            <a:off x="8240538" y="3822700"/>
            <a:ext cx="2595934" cy="1168400"/>
          </a:xfrm>
        </p:spPr>
        <p:txBody>
          <a:bodyPr xmlns:a="http://schemas.openxmlformats.org/drawingml/2006/main">
            <a:noAutofit/>
          </a:bodyPr>
          <a:lstStyle xmlns:a="http://schemas.openxmlformats.org/drawingml/2006/main"/>
          <a:p xmlns:a="http://schemas.openxmlformats.org/drawingml/2006/main">
            <a:pPr marL="0" marR="0" indent="0">
              <a:lnSpc>
                <a:spcPct val="114000"/>
              </a:lnSpc>
              <a:spcBef>
                <a:spcPts val="0"/>
              </a:spcBef>
              <a:spcAft>
                <a:spcPts val="800"/>
              </a:spcAft>
              <a:buClrTx/>
              <a:buSzTx/>
              <a:buNone/>
            </a:pPr>
            <a:r>
              <a:rPr>
                <a:solidFill>
                  <a:schemeClr val="accent1"/>
                </a:solidFill>
                <a:latin typeface="Roboto Medium"/>
                <a:ea typeface="Roboto Medium"/>
                <a:cs typeface="Roboto Medium"/>
              </a:rPr>
              <a:t>31–60 DAYS</a:t>
            </a:r>
          </a:p>
          <a:p xmlns:a="http://schemas.openxmlformats.org/drawingml/2006/main">
            <a:pPr marL="0" marR="0" indent="0" algn="l" defTabSz="914400">
              <a:lnSpc>
                <a:spcPct val="114000"/>
              </a:lnSpc>
              <a:spcBef>
                <a:spcPts val="0"/>
              </a:spcBef>
              <a:spcAft>
                <a:spcPts val="800"/>
              </a:spcAft>
              <a:buClrTx/>
              <a:buSzTx/>
              <a:buFont typeface="Arial"/>
              <a:buNone/>
            </a:pPr>
            <a:r>
              <a:rPr b="0" i="0" u="none" cap="none">
                <a:ln>
                  <a:noFill/>
                </a:ln>
                <a:solidFill>
                  <a:prstClr val="black"/>
                </a:solidFill>
              </a:rPr>
              <a:t>Publish 3 intent-led pages + 4 supporting pieces. Distribute founder proof; test 1 CTA.</a:t>
            </a:r>
          </a:p>
          <a:p xmlns:a="http://schemas.openxmlformats.org/drawingml/2006/main">
            <a:pPr marL="0" marR="0" indent="0" algn="l" defTabSz="914400">
              <a:lnSpc>
                <a:spcPct val="114000"/>
              </a:lnSpc>
              <a:spcBef>
                <a:spcPts val="0"/>
              </a:spcBef>
              <a:spcAft>
                <a:spcPts val="800"/>
              </a:spcAft>
              <a:buClrTx/>
              <a:buSzTx/>
              <a:buFont typeface="Arial"/>
              <a:buNone/>
            </a:pPr>
            <a:r>
              <a:rPr b="0" i="0" u="none" cap="none">
                <a:ln>
                  <a:noFill/>
                </a:ln>
                <a:solidFill>
                  <a:prstClr val="black"/>
                </a:solidFill>
              </a:rPr>
              <a:t/>
            </a:r>
          </a:p>
          <a:p xmlns:a="http://schemas.openxmlformats.org/drawingml/2006/main">
            <a:pPr marL="0" marR="0" indent="0" algn="l" defTabSz="914400">
              <a:lnSpc>
                <a:spcPct val="114000"/>
              </a:lnSpc>
              <a:spcBef>
                <a:spcPts val="0"/>
              </a:spcBef>
              <a:spcAft>
                <a:spcPts val="800"/>
              </a:spcAft>
              <a:buClrTx/>
              <a:buSzTx/>
              <a:buFont typeface="Arial"/>
              <a:buNone/>
            </a:pPr>
            <a:r>
              <a:rPr b="0" i="0" u="none" cap="none">
                <a:ln>
                  <a:noFill/>
                </a:ln>
                <a:solidFill>
                  <a:prstClr val="black"/>
                </a:solidFill>
              </a:rPr>
              <a:t>61–90 DAYS</a:t>
            </a:r>
          </a:p>
          <a:p xmlns:a="http://schemas.openxmlformats.org/drawingml/2006/main">
            <a:pPr marL="0" marR="0" indent="0" algn="l" defTabSz="914400">
              <a:lnSpc>
                <a:spcPct val="114000"/>
              </a:lnSpc>
              <a:spcBef>
                <a:spcPts val="0"/>
              </a:spcBef>
              <a:spcAft>
                <a:spcPts val="800"/>
              </a:spcAft>
              <a:buClrTx/>
              <a:buSzTx/>
              <a:buFont typeface="Arial"/>
              <a:buNone/>
            </a:pPr>
            <a:r>
              <a:rPr b="0" i="0" u="none" cap="none">
                <a:ln>
                  <a:noFill/>
                </a:ln>
                <a:solidFill>
                  <a:prstClr val="black"/>
                </a:solidFill>
              </a:rPr>
              <a:t>Double down on qualified topics; pause low-signal work.</a:t>
            </a:r>
          </a:p>
        </p:txBody>
      </p:sp>
      <p:cxnSp>
        <p:nvCxnSpPr>
          <p:cNvPr id="30"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accent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ctr">
              <a:lnSpc>
                <a:spcPct val="100000"/>
              </a:lnSpc>
              <a:spcBef>
                <a:spcPts val="0"/>
              </a:spcBef>
              <a:spcAft>
                <a:spcPts val="0"/>
              </a:spcAft>
              <a:buNone/>
            </a:p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ctr">
              <a:lnSpc>
                <a:spcPct val="100000"/>
              </a:lnSpc>
              <a:spcBef>
                <a:spcPts val="0"/>
              </a:spcBef>
              <a:spcAft>
                <a:spcPts val="0"/>
              </a:spcAft>
              <a:buNone/>
            </a:p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ctr">
              <a:lnSpc>
                <a:spcPct val="100000"/>
              </a:lnSpc>
              <a:spcBef>
                <a:spcPts val="0"/>
              </a:spcBef>
              <a:spcAft>
                <a:spcPts val="0"/>
              </a:spcAft>
              <a:buNone/>
            </a:p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chemeClr val="accent1"/>
                </a:solidFill>
                <a:latin typeface="Roboto SemiBold"/>
                <a:ea typeface="Roboto SemiBold"/>
                <a:cs typeface="Roboto SemiBold"/>
              </a:rPr>
              <a:t>0–30</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chemeClr val="accent1"/>
                </a:solidFill>
                <a:latin typeface="Roboto SemiBold"/>
                <a:ea typeface="Roboto SemiBold"/>
                <a:cs typeface="Roboto SemiBold"/>
              </a:rPr>
              <a:t>31–60</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chemeClr val="accent1"/>
                </a:solidFill>
                <a:latin typeface="Roboto SemiBold"/>
                <a:ea typeface="Roboto SemiBold"/>
                <a:cs typeface="Roboto SemiBold"/>
              </a:rPr>
              <a:t>61–90</a:t>
            </a:r>
          </a:p>
        </p:txBody>
      </p:sp>
    </p:spTree>
    <p:extLst>
      <p:ext uri="{BB962C8B-B14F-4D97-AF65-F5344CB8AC3E}">
        <p14:creationId xmlns:p14="http://schemas.microsoft.com/office/powerpoint/2010/main" val="34463389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32011EE4-C416-3EA2-180D-62404CE47D07}"/>
              </a:ext>
            </a:extLst>
          </p:cNvPr>
          <p:cNvSpPr>
            <a:spLocks xmlns:a="http://schemas.openxmlformats.org/drawingml/2006/main" noGrp="1"/>
          </p:cNvSpPr>
          <p:nvPr>
            <p:ph type="ctrTitle" idx="0"/>
          </p:nvPr>
        </p:nvSpPr>
        <p:spPr>
          <a:xfrm xmlns:a="http://schemas.openxmlformats.org/drawingml/2006/main">
            <a:off x="393700" y="937510"/>
            <a:ext cx="9448800" cy="2491490"/>
          </a:xfrm>
        </p:spPr>
        <p:txBody>
          <a:bodyPr xmlns:a="http://schemas.openxmlformats.org/drawingml/2006/main">
            <a:noAutofit/>
          </a:bodyPr>
          <a:lstStyle xmlns:a="http://schemas.openxmlformats.org/drawingml/2006/main"/>
          <a:p xmlns:a="http://schemas.openxmlformats.org/drawingml/2006/main">
            <a:r>
              <a:rPr sz="6500">
                <a:solidFill>
                  <a:schemeClr val="accent1"/>
                </a:solidFill>
              </a:rPr>
              <a:t>Decision for the next 90 days</a:t>
            </a:r>
          </a:p>
        </p:txBody>
      </p:sp>
      <p:sp>
        <p:nvSpPr>
          <p:cNvPr id="5" name="Subtitle 4">
            <a:extLst xmlns:a="http://schemas.openxmlformats.org/drawingml/2006/main">
              <a:ext uri="{FF2B5EF4-FFF2-40B4-BE49-F238E27FC236}">
                <a16:creationId xmlns:a16="http://schemas.microsoft.com/office/drawing/2014/main" id="{119B400D-E218-8301-7E00-C5A55230DE5D}"/>
              </a:ext>
            </a:extLst>
          </p:cNvPr>
          <p:cNvSpPr>
            <a:spLocks xmlns:a="http://schemas.openxmlformats.org/drawingml/2006/main" noGrp="1"/>
          </p:cNvSpPr>
          <p:nvPr>
            <p:ph type="subTitle" idx="1"/>
          </p:nvPr>
        </p:nvSpPr>
        <p:spPr>
          <a:xfrm xmlns:a="http://schemas.openxmlformats.org/drawingml/2006/main">
            <a:off x="441201" y="4532466"/>
            <a:ext cx="6458364" cy="1388024"/>
          </a:xfrm>
        </p:spPr>
        <p:txBody>
          <a:bodyPr xmlns:a="http://schemas.openxmlformats.org/drawingml/2006/main">
            <a:noAutofit/>
          </a:bodyPr>
          <a:lstStyle xmlns:a="http://schemas.openxmlformats.org/drawingml/2006/main"/>
          <a:p xmlns:a="http://schemas.openxmlformats.org/drawingml/2006/main">
            <a:pPr>
              <a:lnSpc>
                <a:spcPct val="120000"/>
              </a:lnSpc>
              <a:buNone/>
            </a:pPr>
            <a:r>
              <a:rPr sz="1600">
                <a:solidFill>
                  <a:schemeClr val="accent2">
                    <a:lumMod val="50000"/>
                  </a:schemeClr>
                </a:solidFill>
              </a:rPr>
              <a:t>One primary audience</a:t>
            </a:r>
          </a:p>
          <a:p xmlns:a="http://schemas.openxmlformats.org/drawingml/2006/main">
            <a:pPr>
              <a:lnSpc>
                <a:spcPct val="120000"/>
              </a:lnSpc>
              <a:buNone/>
            </a:pPr>
            <a:r>
              <a:rPr sz="1600">
                <a:solidFill>
                  <a:schemeClr val="accent2">
                    <a:lumMod val="50000"/>
                  </a:schemeClr>
                </a:solidFill>
              </a:rPr>
              <a:t>Three content pillars</a:t>
            </a:r>
          </a:p>
          <a:p xmlns:a="http://schemas.openxmlformats.org/drawingml/2006/main">
            <a:pPr>
              <a:lnSpc>
                <a:spcPct val="120000"/>
              </a:lnSpc>
              <a:buNone/>
            </a:pPr>
            <a:r>
              <a:rPr sz="1600">
                <a:solidFill>
                  <a:schemeClr val="accent2">
                    <a:lumMod val="50000"/>
                  </a:schemeClr>
                </a:solidFill>
              </a:rPr>
              <a:t>One scorecard for qualified demand</a:t>
            </a:r>
          </a:p>
        </p:txBody>
      </p:sp>
      <p:sp>
        <p:nvSpPr>
          <p:cNvPr id="3" name="Straight Connector 2">
            <a:extLst xmlns:a="http://schemas.openxmlformats.org/drawingml/2006/main">
              <a:ext uri="{FF2B5EF4-FFF2-40B4-BE49-F238E27FC236}">
                <a16:creationId xmlns:a16="http://schemas.microsoft.com/office/drawing/2014/main" id="{440285A3-31A6-4DEE-A4C9-5DE288053645}"/>
              </a:ext>
            </a:extLst>
          </p:cNvPr>
          <p:cNvSpPr>
            <a:spLocks xmlns:a="http://schemas.openxmlformats.org/drawingml/2006/main" noGrp="1"/>
          </p:cNvSpPr>
          <p:nvPr/>
        </p:nvSpPr>
        <p:spPr>
          <a:xfrm xmlns:a="http://schemas.openxmlformats.org/drawingml/2006/main">
            <a:off x="-183260" y="3934067"/>
            <a:ext cx="12558520" cy="0"/>
          </a:xfrm>
          <a:prstGeom xmlns:a="http://schemas.openxmlformats.org/drawingml/2006/main" prst="line">
            <a:avLst/>
          </a:prstGeom>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858355452"/>
      </p:ext>
    </p:extLst>
  </p:cSld>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2026-09-18T01:42:43.2210000Z</dcterms:created>
  <dcterms:modified xsi:type="dcterms:W3CDTF">2026-09-18T01:42:43.2210000Z</dcterms:modified>
</coreProperties>
</file>